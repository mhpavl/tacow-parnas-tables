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In November we introduced Parnas Tables in Swift. This is Part II. The whole talk in one line: we co-design a formal spec with an AI agent, we review the TABLE, and we let Xcode 27's agent turn it into a running app. Formal methods as the FAST path, not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Everyone's shipping AI-generated code and quietly hoping it's right. Generation got cheap; trust didn't. That's the motivation for this whole talk. My claim: stop reviewing the OUTPUT and start reviewing the SPEC. Generation is fast but confidently wrong — plausible code, subtle bugs. You cannot out-review a firehose of diffs, but anyone can check a table. And if the table is complete and disjoint and the switch is exhaustive, the COMPILER — not vibes — certifies the agent got it right. We're not making the agent write more; we're making it impossible for it to be silently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60-second recap. The November thesis in three beats: (1) specify complex logic as a Parnas table; (2) map each row to a switch case and let Swift's exhaustive matching prove completeness; (3) so the thing you review is the TABLE, not the code. We ended on an order-processing state machine — because state machines fall out of tables naturally. That's our jumping-off point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twist for Part II. Last time WE wrote the table and WE wrote the code. Today we do neither by hand. We co-design the table with the AI assistant, we verify it together, and we let Xcode 27's agent generate the app. The table is still the source of truth — the agent plus the compiler keep the code honest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swap away from the 7-state order machine to something we can build live. A vending machine is the sweet spot. Three reasons: it builds fast — one screen; it has REAL guard conditions, 'enough credit' and 'in stock', which is exactly the three-dimensional State-by-Event-by-Guard input tables were made for; and it maps to an obvious UI, so when the agent generates it the audience can check the output against what they already expected. Swap in any small machine — media player, ticket flow — the structure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stage this is the first prompt: I paste this paragraph to the assistant and say 'produce a Parnas table — do NOT write Swift yet.' Point out to the audience: this is genuinely all a domain expert needs to say. Everyone in the room understood a vending machine. The engineering is turning informal English into a complete, disjoint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artifact we co-built. It's a Mealy machine — outputs depend on state AND input. Walk the columns: current state, event, guard, new state, outputs. Nine rows. Draw their eyes to the highlighted rows 5, 6 and 7: same state, same event, three different outcomes, separated only by the guard. Green = can buy, amber = not enough money, red = sold out. That guard split is the whole reason we reach for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the intellectual core. I ask the agent: 'is this complete and disjoint? What's missing?' Completeness means every State-by-Event cell is covered. Build the matrix. The empty cells — ignore coins while dispensing, dispenseComplete is a no-op elsewhere — are DECISIONS we make explicit, not things we forgot. And because we'll use an exhaustive switch with no default, the compiler forces us to name every one. 'We forgot a case' becomes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verification: disjointness. Those three rows overlap on state and event — so they're only correct if the guards partition the space with no gap and no overlap. In-stock-and-can-afford, in-stock-but-short, and out-of-stock cover every possibility exactly once. This is the property a flowchart literally cannot prove, because it buries the split in nested ifs. The table lets you point at the partition. Callback: this reviewed table is exactly what becomes the plan artifact in Xcode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tool. Xcode 27's headline is agentic coding — the assistant plans features, edits across files, runs tests, and drives the simulator. The feature that makes OUR thesis land: planning is first-class. The agent's plan shows up as an EDITABLE MARKDOWN ARTIFACT you approve before it writes a line of code. That is our reviewed Parnas table. You pick the model — Anthropic, OpenAI, Google — and Apple even ships its own SwiftUI agent skills. Verify feature names against your actual build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choreography — five prompts. One: paste the brief, get the table. Two, the highlighted step: verify completeness and disjointness together. Three: generate the model, one case per row. Four: generate the SwiftUI app around it. Five: run it and drive the simulator — insert coins, hit the sold-out item, buy something, cancel for a refund. If any step misbehaves, I have a working reference implementation in the repo to paste. The point of the talk is the table, not the demo gods.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load-bearing idea. The generated switch has one case per table row and NO default. Live demo move: delete a case and watch Xcode refuse to build — the compiler is now enforcing the table. And when the spec changes, exactly one case changes. Code and reviewable artifact stay in lockstep. This is why 'the agent generated it' is trustworthy rather than scary: the compiler is checking the agent's work against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that proves the whole thesis. I give the agent a new requirement — a 5% convenience fee — and I tell it: update the TABLE first, show me the changed rows, THEN update the code. Watch the chain: I edit the spec, the guard on rows 5 and 6 moves, the agent updates the transition function to match, the compiler guarantees the switch is still exhaustive, and the app just works. I changed a rule, not the code. That's the payoff — the table is the source of truth and the fast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home. One: specify first, in a table — reviewable by non-programmers, precise enough to generate from. Two: make the agent verify completeness and disjointness — that's where it adds the most value, not just typing code. Three: let the compiler enforce it with an exhaustive, default-free switch. Four: when requirements change, change the rule, not the code. That's the entire method in four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tables in, verified specs out, and apps that match by construction. If your team wants to apply Parnas tables and formal methods for real, I do consulting and training — mhp@flixel.com. Thanks, tacow.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937"/>
        </a:solidFill>
      </p:bgPr>
    </p:bg>
    <p:spTree>
      <p:nvGrpSpPr>
        <p:cNvPr id="1" name=""/>
        <p:cNvGrpSpPr/>
        <p:nvPr/>
      </p:nvGrpSpPr>
      <p:grpSpPr>
        <a:xfrm>
          <a:off x="0" y="0"/>
          <a:ext cx="0" cy="0"/>
          <a:chOff x="0" y="0"/>
          <a:chExt cx="0" cy="0"/>
        </a:xfrm>
      </p:grpSpPr>
      <p:sp>
        <p:nvSpPr>
          <p:cNvPr id="2" name="Text 0"/>
          <p:cNvSpPr/>
          <p:nvPr/>
        </p:nvSpPr>
        <p:spPr>
          <a:xfrm>
            <a:off x="8595360" y="91440"/>
            <a:ext cx="3291840" cy="3291840"/>
          </a:xfrm>
          <a:prstGeom prst="rect">
            <a:avLst/>
          </a:prstGeom>
          <a:noFill/>
          <a:ln/>
        </p:spPr>
        <p:txBody>
          <a:bodyPr wrap="square" lIns="0" tIns="0" rIns="0" bIns="0" rtlCol="0" anchor="ctr"/>
          <a:lstStyle/>
          <a:p>
            <a:pPr algn="r" indent="0" marL="0">
              <a:buNone/>
            </a:pPr>
            <a:r>
              <a:rPr lang="en-US" sz="15000" b="1" dirty="0">
                <a:solidFill>
                  <a:srgbClr val="232A54"/>
                </a:solidFill>
                <a:latin typeface="Cambria" pitchFamily="34" charset="0"/>
                <a:ea typeface="Cambria" pitchFamily="34" charset="-122"/>
                <a:cs typeface="Cambria" pitchFamily="34" charset="-120"/>
              </a:rPr>
              <a:t>§2</a:t>
            </a:r>
            <a:endParaRPr lang="en-US" sz="15000" dirty="0"/>
          </a:p>
        </p:txBody>
      </p:sp>
      <p:sp>
        <p:nvSpPr>
          <p:cNvPr id="3" name="Text 1"/>
          <p:cNvSpPr/>
          <p:nvPr/>
        </p:nvSpPr>
        <p:spPr>
          <a:xfrm>
            <a:off x="548640" y="1554480"/>
            <a:ext cx="10058400" cy="365760"/>
          </a:xfrm>
          <a:prstGeom prst="rect">
            <a:avLst/>
          </a:prstGeom>
          <a:noFill/>
          <a:ln/>
        </p:spPr>
        <p:txBody>
          <a:bodyPr wrap="square" lIns="0" tIns="0" rIns="0" bIns="0" rtlCol="0" anchor="ctr"/>
          <a:lstStyle/>
          <a:p>
            <a:pPr indent="0" marL="0">
              <a:buNone/>
            </a:pPr>
            <a:r>
              <a:rPr lang="en-US" sz="1500" b="1" spc="300" kern="0" dirty="0">
                <a:solidFill>
                  <a:srgbClr val="F7A32B"/>
                </a:solidFill>
                <a:latin typeface="Calibri" pitchFamily="34" charset="0"/>
                <a:ea typeface="Calibri" pitchFamily="34" charset="-122"/>
                <a:cs typeface="Calibri" pitchFamily="34" charset="-120"/>
              </a:rPr>
              <a:t>PARNAS TABLES · PART II</a:t>
            </a:r>
            <a:endParaRPr lang="en-US" sz="1500" dirty="0"/>
          </a:p>
        </p:txBody>
      </p:sp>
      <p:sp>
        <p:nvSpPr>
          <p:cNvPr id="4" name="Text 2"/>
          <p:cNvSpPr/>
          <p:nvPr/>
        </p:nvSpPr>
        <p:spPr>
          <a:xfrm>
            <a:off x="548640" y="2057400"/>
            <a:ext cx="10972800" cy="109728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Tables → State Machines → Apps</a:t>
            </a:r>
            <a:endParaRPr lang="en-US" sz="4600" dirty="0"/>
          </a:p>
        </p:txBody>
      </p:sp>
      <p:sp>
        <p:nvSpPr>
          <p:cNvPr id="5" name="Text 3"/>
          <p:cNvSpPr/>
          <p:nvPr/>
        </p:nvSpPr>
        <p:spPr>
          <a:xfrm>
            <a:off x="548640" y="3246120"/>
            <a:ext cx="9601200" cy="6400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Co-designing a formal spec with an AI agent — and letting Xcode 27 build the app from it.</a:t>
            </a:r>
            <a:endParaRPr lang="en-US" sz="2000" dirty="0"/>
          </a:p>
        </p:txBody>
      </p:sp>
      <p:sp>
        <p:nvSpPr>
          <p:cNvPr id="6" name="Text 4"/>
          <p:cNvSpPr/>
          <p:nvPr/>
        </p:nvSpPr>
        <p:spPr>
          <a:xfrm>
            <a:off x="548640" y="6035040"/>
            <a:ext cx="10972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tacow</a:t>
            </a:r>
            <a:pPr indent="0" marL="0">
              <a:buNone/>
            </a:pPr>
            <a:r>
              <a:rPr lang="en-US" sz="1400" dirty="0">
                <a:solidFill>
                  <a:srgbClr val="5C6690"/>
                </a:solidFill>
                <a:latin typeface="Calibri" pitchFamily="34" charset="0"/>
                <a:ea typeface="Calibri" pitchFamily="34" charset="-122"/>
                <a:cs typeface="Calibri" pitchFamily="34" charset="-120"/>
              </a:rPr>
              <a:t>  ·  Toronto Area Cocoa &amp; WebObjects  ·  Mark H. Pavlidis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937"/>
        </a:solidFill>
      </p:bgPr>
    </p:bg>
    <p:spTree>
      <p:nvGrpSpPr>
        <p:cNvPr id="1" name=""/>
        <p:cNvGrpSpPr/>
        <p:nvPr/>
      </p:nvGrpSpPr>
      <p:grpSpPr>
        <a:xfrm>
          <a:off x="0" y="0"/>
          <a:ext cx="0" cy="0"/>
          <a:chOff x="0" y="0"/>
          <a:chExt cx="0" cy="0"/>
        </a:xfrm>
      </p:grpSpPr>
      <p:sp>
        <p:nvSpPr>
          <p:cNvPr id="2" name="Text 0"/>
          <p:cNvSpPr/>
          <p:nvPr/>
        </p:nvSpPr>
        <p:spPr>
          <a:xfrm>
            <a:off x="548640" y="640080"/>
            <a:ext cx="10058400" cy="365760"/>
          </a:xfrm>
          <a:prstGeom prst="rect">
            <a:avLst/>
          </a:prstGeom>
          <a:noFill/>
          <a:ln/>
        </p:spPr>
        <p:txBody>
          <a:bodyPr wrap="square" lIns="0" tIns="0" rIns="0" bIns="0" rtlCol="0" anchor="ctr"/>
          <a:lstStyle/>
          <a:p>
            <a:pPr indent="0" marL="0">
              <a:buNone/>
            </a:pPr>
            <a:r>
              <a:rPr lang="en-US" sz="1400" b="1" spc="300" kern="0" dirty="0">
                <a:solidFill>
                  <a:srgbClr val="F7A32B"/>
                </a:solidFill>
                <a:latin typeface="Calibri" pitchFamily="34" charset="0"/>
                <a:ea typeface="Calibri" pitchFamily="34" charset="-122"/>
                <a:cs typeface="Calibri" pitchFamily="34" charset="-120"/>
              </a:rPr>
              <a:t>MOTIVATION</a:t>
            </a:r>
            <a:endParaRPr lang="en-US" sz="1400" dirty="0"/>
          </a:p>
        </p:txBody>
      </p:sp>
      <p:sp>
        <p:nvSpPr>
          <p:cNvPr id="3" name="Text 1"/>
          <p:cNvSpPr/>
          <p:nvPr/>
        </p:nvSpPr>
        <p:spPr>
          <a:xfrm>
            <a:off x="548640" y="100584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Correcting AI slop</a:t>
            </a:r>
            <a:endParaRPr lang="en-US" sz="4000" dirty="0"/>
          </a:p>
        </p:txBody>
      </p:sp>
      <p:sp>
        <p:nvSpPr>
          <p:cNvPr id="4" name="Text 2"/>
          <p:cNvSpPr/>
          <p:nvPr/>
        </p:nvSpPr>
        <p:spPr>
          <a:xfrm>
            <a:off x="548640" y="1874520"/>
            <a:ext cx="1097280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What if the agent's output were correct by construction?</a:t>
            </a:r>
            <a:endParaRPr lang="en-US" sz="2000" dirty="0"/>
          </a:p>
        </p:txBody>
      </p:sp>
      <p:sp>
        <p:nvSpPr>
          <p:cNvPr id="5" name="Shape 3"/>
          <p:cNvSpPr/>
          <p:nvPr/>
        </p:nvSpPr>
        <p:spPr>
          <a:xfrm>
            <a:off x="566928" y="2688336"/>
            <a:ext cx="146304" cy="146304"/>
          </a:xfrm>
          <a:prstGeom prst="ellipse">
            <a:avLst/>
          </a:prstGeom>
          <a:solidFill>
            <a:srgbClr val="F7A32B"/>
          </a:solidFill>
          <a:ln/>
        </p:spPr>
      </p:sp>
      <p:sp>
        <p:nvSpPr>
          <p:cNvPr id="6" name="Text 4"/>
          <p:cNvSpPr/>
          <p:nvPr/>
        </p:nvSpPr>
        <p:spPr>
          <a:xfrm>
            <a:off x="914400" y="2606040"/>
            <a:ext cx="10972800" cy="731520"/>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libri" pitchFamily="34" charset="0"/>
                <a:ea typeface="Calibri" pitchFamily="34" charset="-122"/>
                <a:cs typeface="Calibri" pitchFamily="34" charset="-120"/>
              </a:rPr>
              <a:t>Fast, and confidently wrong.  </a:t>
            </a:r>
            <a:pPr indent="0" marL="0">
              <a:lnSpc>
                <a:spcPct val="102000"/>
              </a:lnSpc>
              <a:buNone/>
            </a:pPr>
            <a:r>
              <a:rPr lang="en-US" sz="1700" dirty="0">
                <a:solidFill>
                  <a:srgbClr val="C7CDEC"/>
                </a:solidFill>
                <a:latin typeface="Calibri" pitchFamily="34" charset="0"/>
                <a:ea typeface="Calibri" pitchFamily="34" charset="-122"/>
                <a:cs typeface="Calibri" pitchFamily="34" charset="-120"/>
              </a:rPr>
              <a:t>Agentic coding generates plausible code with subtle bugs.</a:t>
            </a:r>
            <a:endParaRPr lang="en-US" sz="1700" dirty="0"/>
          </a:p>
        </p:txBody>
      </p:sp>
      <p:sp>
        <p:nvSpPr>
          <p:cNvPr id="7" name="Shape 5"/>
          <p:cNvSpPr/>
          <p:nvPr/>
        </p:nvSpPr>
        <p:spPr>
          <a:xfrm>
            <a:off x="566928" y="3529584"/>
            <a:ext cx="146304" cy="146304"/>
          </a:xfrm>
          <a:prstGeom prst="ellipse">
            <a:avLst/>
          </a:prstGeom>
          <a:solidFill>
            <a:srgbClr val="F7A32B"/>
          </a:solidFill>
          <a:ln/>
        </p:spPr>
      </p:sp>
      <p:sp>
        <p:nvSpPr>
          <p:cNvPr id="8" name="Text 6"/>
          <p:cNvSpPr/>
          <p:nvPr/>
        </p:nvSpPr>
        <p:spPr>
          <a:xfrm>
            <a:off x="914400" y="3447288"/>
            <a:ext cx="10972800" cy="731520"/>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libri" pitchFamily="34" charset="0"/>
                <a:ea typeface="Calibri" pitchFamily="34" charset="-122"/>
                <a:cs typeface="Calibri" pitchFamily="34" charset="-120"/>
              </a:rPr>
              <a:t>The bottleneck moved.  </a:t>
            </a:r>
            <a:pPr indent="0" marL="0">
              <a:lnSpc>
                <a:spcPct val="102000"/>
              </a:lnSpc>
              <a:buNone/>
            </a:pPr>
            <a:r>
              <a:rPr lang="en-US" sz="1700" dirty="0">
                <a:solidFill>
                  <a:srgbClr val="C7CDEC"/>
                </a:solidFill>
                <a:latin typeface="Calibri" pitchFamily="34" charset="0"/>
                <a:ea typeface="Calibri" pitchFamily="34" charset="-122"/>
                <a:cs typeface="Calibri" pitchFamily="34" charset="-120"/>
              </a:rPr>
              <a:t>The hard part isn't writing code anymore — it's trusting it.</a:t>
            </a:r>
            <a:endParaRPr lang="en-US" sz="1700" dirty="0"/>
          </a:p>
        </p:txBody>
      </p:sp>
      <p:sp>
        <p:nvSpPr>
          <p:cNvPr id="9" name="Shape 7"/>
          <p:cNvSpPr/>
          <p:nvPr/>
        </p:nvSpPr>
        <p:spPr>
          <a:xfrm>
            <a:off x="566928" y="4370832"/>
            <a:ext cx="146304" cy="146304"/>
          </a:xfrm>
          <a:prstGeom prst="ellipse">
            <a:avLst/>
          </a:prstGeom>
          <a:solidFill>
            <a:srgbClr val="F7A32B"/>
          </a:solidFill>
          <a:ln/>
        </p:spPr>
      </p:sp>
      <p:sp>
        <p:nvSpPr>
          <p:cNvPr id="10" name="Text 8"/>
          <p:cNvSpPr/>
          <p:nvPr/>
        </p:nvSpPr>
        <p:spPr>
          <a:xfrm>
            <a:off x="914400" y="4288536"/>
            <a:ext cx="10972800" cy="731520"/>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libri" pitchFamily="34" charset="0"/>
                <a:ea typeface="Calibri" pitchFamily="34" charset="-122"/>
                <a:cs typeface="Calibri" pitchFamily="34" charset="-120"/>
              </a:rPr>
              <a:t>Reviewing code doesn't scale. A table does.  </a:t>
            </a:r>
            <a:pPr indent="0" marL="0">
              <a:lnSpc>
                <a:spcPct val="102000"/>
              </a:lnSpc>
              <a:buNone/>
            </a:pPr>
            <a:r>
              <a:rPr lang="en-US" sz="1700" dirty="0">
                <a:solidFill>
                  <a:srgbClr val="C7CDEC"/>
                </a:solidFill>
                <a:latin typeface="Calibri" pitchFamily="34" charset="0"/>
                <a:ea typeface="Calibri" pitchFamily="34" charset="-122"/>
                <a:cs typeface="Calibri" pitchFamily="34" charset="-120"/>
              </a:rPr>
              <a:t>You can't out-review a firehose of generated diffs — but anyone can check a spec.</a:t>
            </a:r>
            <a:endParaRPr lang="en-US" sz="1700" dirty="0"/>
          </a:p>
        </p:txBody>
      </p:sp>
      <p:sp>
        <p:nvSpPr>
          <p:cNvPr id="11" name="Shape 9"/>
          <p:cNvSpPr/>
          <p:nvPr/>
        </p:nvSpPr>
        <p:spPr>
          <a:xfrm>
            <a:off x="566928" y="5212080"/>
            <a:ext cx="146304" cy="146304"/>
          </a:xfrm>
          <a:prstGeom prst="ellipse">
            <a:avLst/>
          </a:prstGeom>
          <a:solidFill>
            <a:srgbClr val="F7A32B"/>
          </a:solidFill>
          <a:ln/>
        </p:spPr>
      </p:sp>
      <p:sp>
        <p:nvSpPr>
          <p:cNvPr id="12" name="Text 10"/>
          <p:cNvSpPr/>
          <p:nvPr/>
        </p:nvSpPr>
        <p:spPr>
          <a:xfrm>
            <a:off x="914400" y="5129784"/>
            <a:ext cx="10972800" cy="731520"/>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libri" pitchFamily="34" charset="0"/>
                <a:ea typeface="Calibri" pitchFamily="34" charset="-122"/>
                <a:cs typeface="Calibri" pitchFamily="34" charset="-120"/>
              </a:rPr>
              <a:t>Correct by construction, not by luck.  </a:t>
            </a:r>
            <a:pPr indent="0" marL="0">
              <a:lnSpc>
                <a:spcPct val="102000"/>
              </a:lnSpc>
              <a:buNone/>
            </a:pPr>
            <a:r>
              <a:rPr lang="en-US" sz="1700" dirty="0">
                <a:solidFill>
                  <a:srgbClr val="C7CDEC"/>
                </a:solidFill>
                <a:latin typeface="Calibri" pitchFamily="34" charset="0"/>
                <a:ea typeface="Calibri" pitchFamily="34" charset="-122"/>
                <a:cs typeface="Calibri" pitchFamily="34" charset="-120"/>
              </a:rPr>
              <a:t>Complete + disjoint spec + exhaustive switch → the compiler certifies the agent's work.</a:t>
            </a:r>
            <a:endParaRPr lang="en-US" sz="1700" dirty="0"/>
          </a:p>
        </p:txBody>
      </p:sp>
      <p:sp>
        <p:nvSpPr>
          <p:cNvPr id="13" name="Text 11"/>
          <p:cNvSpPr/>
          <p:nvPr/>
        </p:nvSpPr>
        <p:spPr>
          <a:xfrm>
            <a:off x="548640" y="6080760"/>
            <a:ext cx="10972800" cy="457200"/>
          </a:xfrm>
          <a:prstGeom prst="rect">
            <a:avLst/>
          </a:prstGeom>
          <a:noFill/>
          <a:ln/>
        </p:spPr>
        <p:txBody>
          <a:bodyPr wrap="square" lIns="0" tIns="0" rIns="0" bIns="0" rtlCol="0" anchor="ctr"/>
          <a:lstStyle/>
          <a:p>
            <a:pPr indent="0" marL="0">
              <a:buNone/>
            </a:pPr>
            <a:r>
              <a:rPr lang="en-US" sz="1600" i="1" dirty="0">
                <a:solidFill>
                  <a:srgbClr val="F7A32B"/>
                </a:solidFill>
                <a:latin typeface="Calibri" pitchFamily="34" charset="0"/>
                <a:ea typeface="Calibri" pitchFamily="34" charset="-122"/>
                <a:cs typeface="Calibri" pitchFamily="34" charset="-120"/>
              </a:rPr>
              <a:t>We're not making the agent write more — we're making it impossible for it to be silently wrong.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WHERE WE LEFT OFF</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The thesis from November</a:t>
            </a:r>
            <a:endParaRPr lang="en-US" sz="3400" dirty="0"/>
          </a:p>
        </p:txBody>
      </p:sp>
      <p:sp>
        <p:nvSpPr>
          <p:cNvPr id="4" name="Shape 2"/>
          <p:cNvSpPr/>
          <p:nvPr/>
        </p:nvSpPr>
        <p:spPr>
          <a:xfrm>
            <a:off x="548640" y="1828800"/>
            <a:ext cx="3444240" cy="2743200"/>
          </a:xfrm>
          <a:prstGeom prst="roundRect">
            <a:avLst>
              <a:gd name="adj" fmla="val 4000"/>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5" name="Shape 3"/>
          <p:cNvSpPr/>
          <p:nvPr/>
        </p:nvSpPr>
        <p:spPr>
          <a:xfrm>
            <a:off x="868680" y="2148840"/>
            <a:ext cx="384048" cy="384048"/>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6" name="Text 4"/>
          <p:cNvSpPr/>
          <p:nvPr/>
        </p:nvSpPr>
        <p:spPr>
          <a:xfrm>
            <a:off x="868680" y="21488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68680" y="2697480"/>
            <a:ext cx="2804160" cy="6400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Specify as a table</a:t>
            </a:r>
            <a:endParaRPr lang="en-US" sz="1900" dirty="0"/>
          </a:p>
        </p:txBody>
      </p:sp>
      <p:sp>
        <p:nvSpPr>
          <p:cNvPr id="8" name="Text 6"/>
          <p:cNvSpPr/>
          <p:nvPr/>
        </p:nvSpPr>
        <p:spPr>
          <a:xfrm>
            <a:off x="868680" y="3337560"/>
            <a:ext cx="2804160" cy="1097280"/>
          </a:xfrm>
          <a:prstGeom prst="rect">
            <a:avLst/>
          </a:prstGeom>
          <a:noFill/>
          <a:ln/>
        </p:spPr>
        <p:txBody>
          <a:bodyPr wrap="square" lIns="0" tIns="0" rIns="0" bIns="0" rtlCol="0" anchor="ctr"/>
          <a:lstStyle/>
          <a:p>
            <a:pPr indent="0" marL="0">
              <a:lnSpc>
                <a:spcPct val="105000"/>
              </a:lnSpc>
              <a:buNone/>
            </a:pPr>
            <a:r>
              <a:rPr lang="en-US" sz="1450" dirty="0">
                <a:solidFill>
                  <a:srgbClr val="1C2340"/>
                </a:solidFill>
                <a:latin typeface="Calibri" pitchFamily="34" charset="0"/>
                <a:ea typeface="Calibri" pitchFamily="34" charset="-122"/>
                <a:cs typeface="Calibri" pitchFamily="34" charset="-120"/>
              </a:rPr>
              <a:t>Complex decision logic becomes rows × columns a domain expert can read — not nested if/else.</a:t>
            </a:r>
            <a:endParaRPr lang="en-US" sz="1450" dirty="0"/>
          </a:p>
        </p:txBody>
      </p:sp>
      <p:sp>
        <p:nvSpPr>
          <p:cNvPr id="9" name="Shape 7"/>
          <p:cNvSpPr/>
          <p:nvPr/>
        </p:nvSpPr>
        <p:spPr>
          <a:xfrm>
            <a:off x="4358640" y="1828800"/>
            <a:ext cx="3444240" cy="2743200"/>
          </a:xfrm>
          <a:prstGeom prst="roundRect">
            <a:avLst>
              <a:gd name="adj" fmla="val 4000"/>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0" name="Shape 8"/>
          <p:cNvSpPr/>
          <p:nvPr/>
        </p:nvSpPr>
        <p:spPr>
          <a:xfrm>
            <a:off x="4678680" y="2148840"/>
            <a:ext cx="384048" cy="384048"/>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11" name="Text 9"/>
          <p:cNvSpPr/>
          <p:nvPr/>
        </p:nvSpPr>
        <p:spPr>
          <a:xfrm>
            <a:off x="4678680" y="21488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678680" y="2697480"/>
            <a:ext cx="2804160" cy="6400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Let the compiler prove it</a:t>
            </a:r>
            <a:endParaRPr lang="en-US" sz="1900" dirty="0"/>
          </a:p>
        </p:txBody>
      </p:sp>
      <p:sp>
        <p:nvSpPr>
          <p:cNvPr id="13" name="Text 11"/>
          <p:cNvSpPr/>
          <p:nvPr/>
        </p:nvSpPr>
        <p:spPr>
          <a:xfrm>
            <a:off x="4678680" y="3337560"/>
            <a:ext cx="2804160" cy="1097280"/>
          </a:xfrm>
          <a:prstGeom prst="rect">
            <a:avLst/>
          </a:prstGeom>
          <a:noFill/>
          <a:ln/>
        </p:spPr>
        <p:txBody>
          <a:bodyPr wrap="square" lIns="0" tIns="0" rIns="0" bIns="0" rtlCol="0" anchor="ctr"/>
          <a:lstStyle/>
          <a:p>
            <a:pPr indent="0" marL="0">
              <a:lnSpc>
                <a:spcPct val="105000"/>
              </a:lnSpc>
              <a:buNone/>
            </a:pPr>
            <a:r>
              <a:rPr lang="en-US" sz="1450" dirty="0">
                <a:solidFill>
                  <a:srgbClr val="1C2340"/>
                </a:solidFill>
                <a:latin typeface="Calibri" pitchFamily="34" charset="0"/>
                <a:ea typeface="Calibri" pitchFamily="34" charset="-122"/>
                <a:cs typeface="Calibri" pitchFamily="34" charset="-120"/>
              </a:rPr>
              <a:t>Map one row → one switch case. Swift's exhaustive switch enforces completeness at build time.</a:t>
            </a:r>
            <a:endParaRPr lang="en-US" sz="1450" dirty="0"/>
          </a:p>
        </p:txBody>
      </p:sp>
      <p:sp>
        <p:nvSpPr>
          <p:cNvPr id="14" name="Shape 12"/>
          <p:cNvSpPr/>
          <p:nvPr/>
        </p:nvSpPr>
        <p:spPr>
          <a:xfrm>
            <a:off x="8168640" y="1828800"/>
            <a:ext cx="3444240" cy="2743200"/>
          </a:xfrm>
          <a:prstGeom prst="roundRect">
            <a:avLst>
              <a:gd name="adj" fmla="val 4000"/>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5" name="Shape 13"/>
          <p:cNvSpPr/>
          <p:nvPr/>
        </p:nvSpPr>
        <p:spPr>
          <a:xfrm>
            <a:off x="8488680" y="2148840"/>
            <a:ext cx="384048" cy="384048"/>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16" name="Text 14"/>
          <p:cNvSpPr/>
          <p:nvPr/>
        </p:nvSpPr>
        <p:spPr>
          <a:xfrm>
            <a:off x="8488680" y="21488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488680" y="2697480"/>
            <a:ext cx="2804160" cy="6400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Review the table, not the code</a:t>
            </a:r>
            <a:endParaRPr lang="en-US" sz="1900" dirty="0"/>
          </a:p>
        </p:txBody>
      </p:sp>
      <p:sp>
        <p:nvSpPr>
          <p:cNvPr id="18" name="Text 16"/>
          <p:cNvSpPr/>
          <p:nvPr/>
        </p:nvSpPr>
        <p:spPr>
          <a:xfrm>
            <a:off x="8488680" y="3337560"/>
            <a:ext cx="2804160" cy="1097280"/>
          </a:xfrm>
          <a:prstGeom prst="rect">
            <a:avLst/>
          </a:prstGeom>
          <a:noFill/>
          <a:ln/>
        </p:spPr>
        <p:txBody>
          <a:bodyPr wrap="square" lIns="0" tIns="0" rIns="0" bIns="0" rtlCol="0" anchor="ctr"/>
          <a:lstStyle/>
          <a:p>
            <a:pPr indent="0" marL="0">
              <a:lnSpc>
                <a:spcPct val="105000"/>
              </a:lnSpc>
              <a:buNone/>
            </a:pPr>
            <a:r>
              <a:rPr lang="en-US" sz="1450" dirty="0">
                <a:solidFill>
                  <a:srgbClr val="1C2340"/>
                </a:solidFill>
                <a:latin typeface="Calibri" pitchFamily="34" charset="0"/>
                <a:ea typeface="Calibri" pitchFamily="34" charset="-122"/>
                <a:cs typeface="Calibri" pitchFamily="34" charset="-120"/>
              </a:rPr>
              <a:t>The reviewable artifact is the spec. Change the table first; the code follows.</a:t>
            </a:r>
            <a:endParaRPr lang="en-US" sz="1450" dirty="0"/>
          </a:p>
        </p:txBody>
      </p:sp>
      <p:sp>
        <p:nvSpPr>
          <p:cNvPr id="19" name="Text 17"/>
          <p:cNvSpPr/>
          <p:nvPr/>
        </p:nvSpPr>
        <p:spPr>
          <a:xfrm>
            <a:off x="548640" y="4937760"/>
            <a:ext cx="1106424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Three examples: </a:t>
            </a:r>
            <a:pPr indent="0" marL="0">
              <a:buNone/>
            </a:pPr>
            <a:r>
              <a:rPr lang="en-US" sz="1500" dirty="0">
                <a:solidFill>
                  <a:srgbClr val="5C6690"/>
                </a:solidFill>
                <a:latin typeface="Calibri" pitchFamily="34" charset="0"/>
                <a:ea typeface="Calibri" pitchFamily="34" charset="-122"/>
                <a:cs typeface="Calibri" pitchFamily="34" charset="-120"/>
              </a:rPr>
              <a:t>Access Control · HVAC Control · an Order-Processing state machine.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937"/>
        </a:solidFill>
      </p:bgPr>
    </p:bg>
    <p:spTree>
      <p:nvGrpSpPr>
        <p:cNvPr id="1" name=""/>
        <p:cNvGrpSpPr/>
        <p:nvPr/>
      </p:nvGrpSpPr>
      <p:grpSpPr>
        <a:xfrm>
          <a:off x="0" y="0"/>
          <a:ext cx="0" cy="0"/>
          <a:chOff x="0" y="0"/>
          <a:chExt cx="0" cy="0"/>
        </a:xfrm>
      </p:grpSpPr>
      <p:sp>
        <p:nvSpPr>
          <p:cNvPr id="2" name="Text 0"/>
          <p:cNvSpPr/>
          <p:nvPr/>
        </p:nvSpPr>
        <p:spPr>
          <a:xfrm>
            <a:off x="548640" y="1188720"/>
            <a:ext cx="10058400" cy="365760"/>
          </a:xfrm>
          <a:prstGeom prst="rect">
            <a:avLst/>
          </a:prstGeom>
          <a:noFill/>
          <a:ln/>
        </p:spPr>
        <p:txBody>
          <a:bodyPr wrap="square" lIns="0" tIns="0" rIns="0" bIns="0" rtlCol="0" anchor="ctr"/>
          <a:lstStyle/>
          <a:p>
            <a:pPr indent="0" marL="0">
              <a:buNone/>
            </a:pPr>
            <a:r>
              <a:rPr lang="en-US" sz="1400" b="1" spc="300" kern="0" dirty="0">
                <a:solidFill>
                  <a:srgbClr val="F7A32B"/>
                </a:solidFill>
                <a:latin typeface="Calibri" pitchFamily="34" charset="0"/>
                <a:ea typeface="Calibri" pitchFamily="34" charset="-122"/>
                <a:cs typeface="Calibri" pitchFamily="34" charset="-120"/>
              </a:rPr>
              <a:t>THE NEW IDEA</a:t>
            </a:r>
            <a:endParaRPr lang="en-US" sz="1400" dirty="0"/>
          </a:p>
        </p:txBody>
      </p:sp>
      <p:sp>
        <p:nvSpPr>
          <p:cNvPr id="3" name="Text 1"/>
          <p:cNvSpPr/>
          <p:nvPr/>
        </p:nvSpPr>
        <p:spPr>
          <a:xfrm>
            <a:off x="548640" y="1691640"/>
            <a:ext cx="1097280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Don't write the table alone.</a:t>
            </a:r>
            <a:endParaRPr lang="en-US" sz="4400" dirty="0"/>
          </a:p>
          <a:p>
            <a:pPr indent="0" marL="0">
              <a:lnSpc>
                <a:spcPct val="105000"/>
              </a:lnSpc>
              <a:buNone/>
            </a:pPr>
            <a:r>
              <a:rPr lang="en-US" sz="4400" b="1" dirty="0">
                <a:solidFill>
                  <a:srgbClr val="CADCFC"/>
                </a:solidFill>
                <a:latin typeface="Cambria" pitchFamily="34" charset="0"/>
                <a:ea typeface="Cambria" pitchFamily="34" charset="-122"/>
                <a:cs typeface="Cambria" pitchFamily="34" charset="-120"/>
              </a:rPr>
              <a:t>Don't write the app by hand.</a:t>
            </a:r>
            <a:endParaRPr lang="en-US" sz="4400" dirty="0"/>
          </a:p>
        </p:txBody>
      </p:sp>
      <p:sp>
        <p:nvSpPr>
          <p:cNvPr id="4" name="Text 2"/>
          <p:cNvSpPr/>
          <p:nvPr/>
        </p:nvSpPr>
        <p:spPr>
          <a:xfrm>
            <a:off x="548640" y="3840480"/>
            <a:ext cx="10424160" cy="822960"/>
          </a:xfrm>
          <a:prstGeom prst="rect">
            <a:avLst/>
          </a:prstGeom>
          <a:noFill/>
          <a:ln/>
        </p:spPr>
        <p:txBody>
          <a:bodyPr wrap="square" lIns="0" tIns="0" rIns="0" bIns="0" rtlCol="0" anchor="ctr"/>
          <a:lstStyle/>
          <a:p>
            <a:pPr indent="0" marL="0">
              <a:lnSpc>
                <a:spcPct val="110000"/>
              </a:lnSpc>
              <a:buNone/>
            </a:pPr>
            <a:r>
              <a:rPr lang="en-US" sz="2000" dirty="0">
                <a:solidFill>
                  <a:srgbClr val="CADCFC"/>
                </a:solidFill>
                <a:latin typeface="Calibri" pitchFamily="34" charset="0"/>
                <a:ea typeface="Calibri" pitchFamily="34" charset="-122"/>
                <a:cs typeface="Calibri" pitchFamily="34" charset="-120"/>
              </a:rPr>
              <a:t>Co-design the spec with the agent · verify completeness &amp; disjointness together · let Xcode 27 generate the app.</a:t>
            </a:r>
            <a:endParaRPr lang="en-US" sz="2000" dirty="0"/>
          </a:p>
        </p:txBody>
      </p:sp>
      <p:sp>
        <p:nvSpPr>
          <p:cNvPr id="5" name="Text 3"/>
          <p:cNvSpPr/>
          <p:nvPr/>
        </p:nvSpPr>
        <p:spPr>
          <a:xfrm>
            <a:off x="548640" y="5029200"/>
            <a:ext cx="10424160" cy="548640"/>
          </a:xfrm>
          <a:prstGeom prst="rect">
            <a:avLst/>
          </a:prstGeom>
          <a:noFill/>
          <a:ln/>
        </p:spPr>
        <p:txBody>
          <a:bodyPr wrap="square" lIns="0" tIns="0" rIns="0" bIns="0" rtlCol="0" anchor="ctr"/>
          <a:lstStyle/>
          <a:p>
            <a:pPr indent="0" marL="0">
              <a:buNone/>
            </a:pPr>
            <a:r>
              <a:rPr lang="en-US" sz="1600" i="1" dirty="0">
                <a:solidFill>
                  <a:srgbClr val="5C6690"/>
                </a:solidFill>
                <a:latin typeface="Calibri" pitchFamily="34" charset="0"/>
                <a:ea typeface="Calibri" pitchFamily="34" charset="-122"/>
                <a:cs typeface="Calibri" pitchFamily="34" charset="-120"/>
              </a:rPr>
              <a:t>The table stays the source of truth. The agent and the compiler keep the code faithful to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OUR DEMO MACHINE</a:t>
            </a:r>
            <a:endParaRPr lang="en-US" sz="1200" dirty="0"/>
          </a:p>
        </p:txBody>
      </p:sp>
      <p:sp>
        <p:nvSpPr>
          <p:cNvPr id="3" name="Text 1"/>
          <p:cNvSpPr/>
          <p:nvPr/>
        </p:nvSpPr>
        <p:spPr>
          <a:xfrm>
            <a:off x="548640" y="658368"/>
            <a:ext cx="731520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A vending machine</a:t>
            </a:r>
            <a:endParaRPr lang="en-US" sz="3400" dirty="0"/>
          </a:p>
        </p:txBody>
      </p:sp>
      <p:sp>
        <p:nvSpPr>
          <p:cNvPr id="4" name="Shape 2"/>
          <p:cNvSpPr/>
          <p:nvPr/>
        </p:nvSpPr>
        <p:spPr>
          <a:xfrm>
            <a:off x="8503920" y="1554480"/>
            <a:ext cx="3017520" cy="4206240"/>
          </a:xfrm>
          <a:prstGeom prst="roundRect">
            <a:avLst>
              <a:gd name="adj" fmla="val 4242"/>
            </a:avLst>
          </a:prstGeom>
          <a:solidFill>
            <a:srgbClr val="1E2761"/>
          </a:solidFill>
          <a:ln/>
          <a:effectLst>
            <a:outerShdw sx="100000" sy="100000" kx="0" ky="0" algn="bl" rotWithShape="0" blurRad="101600" dist="38100" dir="5400000">
              <a:srgbClr val="9AA3C8">
                <a:alpha val="35000"/>
              </a:srgbClr>
            </a:outerShdw>
          </a:effectLst>
        </p:spPr>
      </p:sp>
      <p:sp>
        <p:nvSpPr>
          <p:cNvPr id="5" name="Shape 3"/>
          <p:cNvSpPr/>
          <p:nvPr/>
        </p:nvSpPr>
        <p:spPr>
          <a:xfrm>
            <a:off x="8778240" y="1828800"/>
            <a:ext cx="1920240" cy="3657600"/>
          </a:xfrm>
          <a:prstGeom prst="roundRect">
            <a:avLst>
              <a:gd name="adj" fmla="val 3810"/>
            </a:avLst>
          </a:prstGeom>
          <a:solidFill>
            <a:srgbClr val="2C3670"/>
          </a:solidFill>
          <a:ln/>
        </p:spPr>
      </p:sp>
      <p:sp>
        <p:nvSpPr>
          <p:cNvPr id="6" name="Shape 4"/>
          <p:cNvSpPr/>
          <p:nvPr/>
        </p:nvSpPr>
        <p:spPr>
          <a:xfrm>
            <a:off x="8915400" y="2011680"/>
            <a:ext cx="548640" cy="548640"/>
          </a:xfrm>
          <a:prstGeom prst="roundRect">
            <a:avLst>
              <a:gd name="adj" fmla="val 8333"/>
            </a:avLst>
          </a:prstGeom>
          <a:solidFill>
            <a:srgbClr val="CADCFC"/>
          </a:solidFill>
          <a:ln/>
        </p:spPr>
      </p:sp>
      <p:sp>
        <p:nvSpPr>
          <p:cNvPr id="7" name="Shape 5"/>
          <p:cNvSpPr/>
          <p:nvPr/>
        </p:nvSpPr>
        <p:spPr>
          <a:xfrm>
            <a:off x="9601200" y="2011680"/>
            <a:ext cx="548640" cy="548640"/>
          </a:xfrm>
          <a:prstGeom prst="roundRect">
            <a:avLst>
              <a:gd name="adj" fmla="val 8333"/>
            </a:avLst>
          </a:prstGeom>
          <a:solidFill>
            <a:srgbClr val="CADCFC"/>
          </a:solidFill>
          <a:ln/>
        </p:spPr>
      </p:sp>
      <p:sp>
        <p:nvSpPr>
          <p:cNvPr id="8" name="Shape 6"/>
          <p:cNvSpPr/>
          <p:nvPr/>
        </p:nvSpPr>
        <p:spPr>
          <a:xfrm>
            <a:off x="8915400" y="2697480"/>
            <a:ext cx="548640" cy="548640"/>
          </a:xfrm>
          <a:prstGeom prst="roundRect">
            <a:avLst>
              <a:gd name="adj" fmla="val 8333"/>
            </a:avLst>
          </a:prstGeom>
          <a:solidFill>
            <a:srgbClr val="CADCFC"/>
          </a:solidFill>
          <a:ln/>
        </p:spPr>
      </p:sp>
      <p:sp>
        <p:nvSpPr>
          <p:cNvPr id="9" name="Shape 7"/>
          <p:cNvSpPr/>
          <p:nvPr/>
        </p:nvSpPr>
        <p:spPr>
          <a:xfrm>
            <a:off x="9601200" y="2697480"/>
            <a:ext cx="548640" cy="548640"/>
          </a:xfrm>
          <a:prstGeom prst="roundRect">
            <a:avLst>
              <a:gd name="adj" fmla="val 8333"/>
            </a:avLst>
          </a:prstGeom>
          <a:solidFill>
            <a:srgbClr val="CADCFC"/>
          </a:solidFill>
          <a:ln/>
        </p:spPr>
      </p:sp>
      <p:sp>
        <p:nvSpPr>
          <p:cNvPr id="10" name="Shape 8"/>
          <p:cNvSpPr/>
          <p:nvPr/>
        </p:nvSpPr>
        <p:spPr>
          <a:xfrm>
            <a:off x="8915400" y="3383280"/>
            <a:ext cx="548640" cy="548640"/>
          </a:xfrm>
          <a:prstGeom prst="roundRect">
            <a:avLst>
              <a:gd name="adj" fmla="val 8333"/>
            </a:avLst>
          </a:prstGeom>
          <a:solidFill>
            <a:srgbClr val="CADCFC"/>
          </a:solidFill>
          <a:ln/>
        </p:spPr>
      </p:sp>
      <p:sp>
        <p:nvSpPr>
          <p:cNvPr id="11" name="Shape 9"/>
          <p:cNvSpPr/>
          <p:nvPr/>
        </p:nvSpPr>
        <p:spPr>
          <a:xfrm>
            <a:off x="9601200" y="3383280"/>
            <a:ext cx="548640" cy="548640"/>
          </a:xfrm>
          <a:prstGeom prst="roundRect">
            <a:avLst>
              <a:gd name="adj" fmla="val 8333"/>
            </a:avLst>
          </a:prstGeom>
          <a:solidFill>
            <a:srgbClr val="CADCFC"/>
          </a:solidFill>
          <a:ln/>
        </p:spPr>
      </p:sp>
      <p:sp>
        <p:nvSpPr>
          <p:cNvPr id="12" name="Shape 10"/>
          <p:cNvSpPr/>
          <p:nvPr/>
        </p:nvSpPr>
        <p:spPr>
          <a:xfrm>
            <a:off x="10835640" y="2011680"/>
            <a:ext cx="457200" cy="2194560"/>
          </a:xfrm>
          <a:prstGeom prst="roundRect">
            <a:avLst>
              <a:gd name="adj" fmla="val 12000"/>
            </a:avLst>
          </a:prstGeom>
          <a:solidFill>
            <a:srgbClr val="0E1330"/>
          </a:solidFill>
          <a:ln/>
        </p:spPr>
      </p:sp>
      <p:sp>
        <p:nvSpPr>
          <p:cNvPr id="13" name="Text 11"/>
          <p:cNvSpPr/>
          <p:nvPr/>
        </p:nvSpPr>
        <p:spPr>
          <a:xfrm>
            <a:off x="10744200" y="4480560"/>
            <a:ext cx="640080" cy="365760"/>
          </a:xfrm>
          <a:prstGeom prst="rect">
            <a:avLst/>
          </a:prstGeom>
          <a:noFill/>
          <a:ln/>
        </p:spPr>
        <p:txBody>
          <a:bodyPr wrap="square" lIns="0" tIns="0" rIns="0" bIns="0" rtlCol="0" anchor="ctr"/>
          <a:lstStyle/>
          <a:p>
            <a:pPr algn="ctr" indent="0" marL="0">
              <a:buNone/>
            </a:pPr>
            <a:r>
              <a:rPr lang="en-US" sz="1200" b="1" dirty="0">
                <a:solidFill>
                  <a:srgbClr val="2FB170"/>
                </a:solidFill>
                <a:latin typeface="Courier New" pitchFamily="34" charset="0"/>
                <a:ea typeface="Courier New" pitchFamily="34" charset="-122"/>
                <a:cs typeface="Courier New" pitchFamily="34" charset="-120"/>
              </a:rPr>
              <a:t>$1.50</a:t>
            </a:r>
            <a:endParaRPr lang="en-US" sz="1200" dirty="0"/>
          </a:p>
        </p:txBody>
      </p:sp>
      <p:sp>
        <p:nvSpPr>
          <p:cNvPr id="14" name="Shape 12"/>
          <p:cNvSpPr/>
          <p:nvPr/>
        </p:nvSpPr>
        <p:spPr>
          <a:xfrm>
            <a:off x="8915400" y="4937760"/>
            <a:ext cx="2194560" cy="502920"/>
          </a:xfrm>
          <a:prstGeom prst="roundRect">
            <a:avLst>
              <a:gd name="adj" fmla="val 10909"/>
            </a:avLst>
          </a:prstGeom>
          <a:solidFill>
            <a:srgbClr val="0E1330"/>
          </a:solidFill>
          <a:ln/>
        </p:spPr>
      </p:sp>
      <p:sp>
        <p:nvSpPr>
          <p:cNvPr id="15" name="Shape 13"/>
          <p:cNvSpPr/>
          <p:nvPr/>
        </p:nvSpPr>
        <p:spPr>
          <a:xfrm>
            <a:off x="548640" y="1874520"/>
            <a:ext cx="365760" cy="365760"/>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16" name="Text 14"/>
          <p:cNvSpPr/>
          <p:nvPr/>
        </p:nvSpPr>
        <p:spPr>
          <a:xfrm>
            <a:off x="548640" y="1874520"/>
            <a:ext cx="36576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17" name="Text 15"/>
          <p:cNvSpPr/>
          <p:nvPr/>
        </p:nvSpPr>
        <p:spPr>
          <a:xfrm>
            <a:off x="1097280" y="1837944"/>
            <a:ext cx="694944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Builds fast</a:t>
            </a:r>
            <a:endParaRPr lang="en-US" sz="1900" dirty="0"/>
          </a:p>
        </p:txBody>
      </p:sp>
      <p:sp>
        <p:nvSpPr>
          <p:cNvPr id="18" name="Text 16"/>
          <p:cNvSpPr/>
          <p:nvPr/>
        </p:nvSpPr>
        <p:spPr>
          <a:xfrm>
            <a:off x="1097280" y="2203704"/>
            <a:ext cx="7223760" cy="640080"/>
          </a:xfrm>
          <a:prstGeom prst="rect">
            <a:avLst/>
          </a:prstGeom>
          <a:noFill/>
          <a:ln/>
        </p:spPr>
        <p:txBody>
          <a:bodyPr wrap="square" lIns="0" tIns="0" rIns="0" bIns="0" rtlCol="0" anchor="ctr"/>
          <a:lstStyle/>
          <a:p>
            <a:pPr indent="0" marL="0">
              <a:lnSpc>
                <a:spcPct val="103000"/>
              </a:lnSpc>
              <a:buNone/>
            </a:pPr>
            <a:r>
              <a:rPr lang="en-US" sz="1450" dirty="0">
                <a:solidFill>
                  <a:srgbClr val="1C2340"/>
                </a:solidFill>
                <a:latin typeface="Calibri" pitchFamily="34" charset="0"/>
                <a:ea typeface="Calibri" pitchFamily="34" charset="-122"/>
                <a:cs typeface="Calibri" pitchFamily="34" charset="-120"/>
              </a:rPr>
              <a:t>3 states, 4 events — the whole app is one screen.</a:t>
            </a:r>
            <a:endParaRPr lang="en-US" sz="1450" dirty="0"/>
          </a:p>
        </p:txBody>
      </p:sp>
      <p:sp>
        <p:nvSpPr>
          <p:cNvPr id="19" name="Shape 17"/>
          <p:cNvSpPr/>
          <p:nvPr/>
        </p:nvSpPr>
        <p:spPr>
          <a:xfrm>
            <a:off x="548640" y="2926080"/>
            <a:ext cx="365760" cy="365760"/>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20" name="Text 18"/>
          <p:cNvSpPr/>
          <p:nvPr/>
        </p:nvSpPr>
        <p:spPr>
          <a:xfrm>
            <a:off x="548640" y="2926080"/>
            <a:ext cx="36576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21" name="Text 19"/>
          <p:cNvSpPr/>
          <p:nvPr/>
        </p:nvSpPr>
        <p:spPr>
          <a:xfrm>
            <a:off x="1097280" y="2889504"/>
            <a:ext cx="694944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Real guards</a:t>
            </a:r>
            <a:endParaRPr lang="en-US" sz="1900" dirty="0"/>
          </a:p>
        </p:txBody>
      </p:sp>
      <p:sp>
        <p:nvSpPr>
          <p:cNvPr id="22" name="Text 20"/>
          <p:cNvSpPr/>
          <p:nvPr/>
        </p:nvSpPr>
        <p:spPr>
          <a:xfrm>
            <a:off x="1097280" y="3255264"/>
            <a:ext cx="7223760" cy="640080"/>
          </a:xfrm>
          <a:prstGeom prst="rect">
            <a:avLst/>
          </a:prstGeom>
          <a:noFill/>
          <a:ln/>
        </p:spPr>
        <p:txBody>
          <a:bodyPr wrap="square" lIns="0" tIns="0" rIns="0" bIns="0" rtlCol="0" anchor="ctr"/>
          <a:lstStyle/>
          <a:p>
            <a:pPr indent="0" marL="0">
              <a:lnSpc>
                <a:spcPct val="103000"/>
              </a:lnSpc>
              <a:buNone/>
            </a:pPr>
            <a:r>
              <a:rPr lang="en-US" sz="1450" dirty="0">
                <a:solidFill>
                  <a:srgbClr val="1C2340"/>
                </a:solidFill>
                <a:latin typeface="Calibri" pitchFamily="34" charset="0"/>
                <a:ea typeface="Calibri" pitchFamily="34" charset="-122"/>
                <a:cs typeface="Calibri" pitchFamily="34" charset="-120"/>
              </a:rPr>
              <a:t>“Enough credit?” and “In stock?” — the State × Event × Guard split tables are built for.</a:t>
            </a:r>
            <a:endParaRPr lang="en-US" sz="1450" dirty="0"/>
          </a:p>
        </p:txBody>
      </p:sp>
      <p:sp>
        <p:nvSpPr>
          <p:cNvPr id="23" name="Shape 21"/>
          <p:cNvSpPr/>
          <p:nvPr/>
        </p:nvSpPr>
        <p:spPr>
          <a:xfrm>
            <a:off x="548640" y="3977640"/>
            <a:ext cx="365760" cy="365760"/>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24" name="Text 22"/>
          <p:cNvSpPr/>
          <p:nvPr/>
        </p:nvSpPr>
        <p:spPr>
          <a:xfrm>
            <a:off x="548640" y="3977640"/>
            <a:ext cx="36576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25" name="Text 23"/>
          <p:cNvSpPr/>
          <p:nvPr/>
        </p:nvSpPr>
        <p:spPr>
          <a:xfrm>
            <a:off x="1097280" y="3941064"/>
            <a:ext cx="694944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Obvious UI</a:t>
            </a:r>
            <a:endParaRPr lang="en-US" sz="1900" dirty="0"/>
          </a:p>
        </p:txBody>
      </p:sp>
      <p:sp>
        <p:nvSpPr>
          <p:cNvPr id="26" name="Text 24"/>
          <p:cNvSpPr/>
          <p:nvPr/>
        </p:nvSpPr>
        <p:spPr>
          <a:xfrm>
            <a:off x="1097280" y="4306824"/>
            <a:ext cx="7223760" cy="640080"/>
          </a:xfrm>
          <a:prstGeom prst="rect">
            <a:avLst/>
          </a:prstGeom>
          <a:noFill/>
          <a:ln/>
        </p:spPr>
        <p:txBody>
          <a:bodyPr wrap="square" lIns="0" tIns="0" rIns="0" bIns="0" rtlCol="0" anchor="ctr"/>
          <a:lstStyle/>
          <a:p>
            <a:pPr indent="0" marL="0">
              <a:lnSpc>
                <a:spcPct val="103000"/>
              </a:lnSpc>
              <a:buNone/>
            </a:pPr>
            <a:r>
              <a:rPr lang="en-US" sz="1450" dirty="0">
                <a:solidFill>
                  <a:srgbClr val="1C2340"/>
                </a:solidFill>
                <a:latin typeface="Calibri" pitchFamily="34" charset="0"/>
                <a:ea typeface="Calibri" pitchFamily="34" charset="-122"/>
                <a:cs typeface="Calibri" pitchFamily="34" charset="-120"/>
              </a:rPr>
              <a:t>Display, coin buttons, product grid, cancel. The audience can predict it — so the output feels verified, not magic.</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STEP 1 — WHAT THE DOMAIN EXPERT GIVES YOU</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The brief, in plain English</a:t>
            </a:r>
            <a:endParaRPr lang="en-US" sz="3400" dirty="0"/>
          </a:p>
        </p:txBody>
      </p:sp>
      <p:sp>
        <p:nvSpPr>
          <p:cNvPr id="4" name="Shape 2"/>
          <p:cNvSpPr/>
          <p:nvPr/>
        </p:nvSpPr>
        <p:spPr>
          <a:xfrm>
            <a:off x="548640" y="1828800"/>
            <a:ext cx="11064240" cy="2468880"/>
          </a:xfrm>
          <a:prstGeom prst="roundRect">
            <a:avLst>
              <a:gd name="adj" fmla="val 4444"/>
            </a:avLst>
          </a:prstGeom>
          <a:solidFill>
            <a:srgbClr val="FFF6E9"/>
          </a:solidFill>
          <a:ln w="12700">
            <a:solidFill>
              <a:srgbClr val="F2D9AE"/>
            </a:solidFill>
            <a:prstDash val="solid"/>
          </a:ln>
          <a:effectLst>
            <a:outerShdw sx="100000" sy="100000" kx="0" ky="0" algn="bl" rotWithShape="0" blurRad="101600" dist="38100" dir="5400000">
              <a:srgbClr val="9AA3C8">
                <a:alpha val="35000"/>
              </a:srgbClr>
            </a:outerShdw>
          </a:effectLst>
        </p:spPr>
      </p:sp>
      <p:sp>
        <p:nvSpPr>
          <p:cNvPr id="5" name="Text 3"/>
          <p:cNvSpPr/>
          <p:nvPr/>
        </p:nvSpPr>
        <p:spPr>
          <a:xfrm>
            <a:off x="914400" y="2103120"/>
            <a:ext cx="10332720" cy="1920240"/>
          </a:xfrm>
          <a:prstGeom prst="rect">
            <a:avLst/>
          </a:prstGeom>
          <a:noFill/>
          <a:ln/>
        </p:spPr>
        <p:txBody>
          <a:bodyPr wrap="square" lIns="0" tIns="0" rIns="0" bIns="0" rtlCol="0" anchor="ctr"/>
          <a:lstStyle/>
          <a:p>
            <a:pPr indent="0" marL="0">
              <a:lnSpc>
                <a:spcPct val="120000"/>
              </a:lnSpc>
              <a:buNone/>
            </a:pPr>
            <a:r>
              <a:rPr lang="en-US" sz="2100" b="1" dirty="0">
                <a:solidFill>
                  <a:srgbClr val="1E2761"/>
                </a:solidFill>
                <a:latin typeface="Calibri" pitchFamily="34" charset="0"/>
                <a:ea typeface="Calibri" pitchFamily="34" charset="-122"/>
                <a:cs typeface="Calibri" pitchFamily="34" charset="-120"/>
              </a:rPr>
              <a:t>Idle </a:t>
            </a:r>
            <a:pPr indent="0" marL="0">
              <a:lnSpc>
                <a:spcPct val="120000"/>
              </a:lnSpc>
              <a:buNone/>
            </a:pPr>
            <a:r>
              <a:rPr lang="en-US" sz="2100" dirty="0">
                <a:solidFill>
                  <a:srgbClr val="1C2340"/>
                </a:solidFill>
                <a:latin typeface="Calibri" pitchFamily="34" charset="0"/>
                <a:ea typeface="Calibri" pitchFamily="34" charset="-122"/>
                <a:cs typeface="Calibri" pitchFamily="34" charset="-120"/>
              </a:rPr>
              <a:t>until coins go in. As they do, it </a:t>
            </a:r>
            <a:pPr indent="0" marL="0">
              <a:lnSpc>
                <a:spcPct val="120000"/>
              </a:lnSpc>
              <a:buNone/>
            </a:pPr>
            <a:r>
              <a:rPr lang="en-US" sz="2100" b="1" dirty="0">
                <a:solidFill>
                  <a:srgbClr val="1E2761"/>
                </a:solidFill>
                <a:latin typeface="Calibri" pitchFamily="34" charset="0"/>
                <a:ea typeface="Calibri" pitchFamily="34" charset="-122"/>
                <a:cs typeface="Calibri" pitchFamily="34" charset="-120"/>
              </a:rPr>
              <a:t>collects </a:t>
            </a:r>
            <a:pPr indent="0" marL="0">
              <a:lnSpc>
                <a:spcPct val="120000"/>
              </a:lnSpc>
              <a:buNone/>
            </a:pPr>
            <a:r>
              <a:rPr lang="en-US" sz="2100" dirty="0">
                <a:solidFill>
                  <a:srgbClr val="1C2340"/>
                </a:solidFill>
                <a:latin typeface="Calibri" pitchFamily="34" charset="0"/>
                <a:ea typeface="Calibri" pitchFamily="34" charset="-122"/>
                <a:cs typeface="Calibri" pitchFamily="34" charset="-120"/>
              </a:rPr>
              <a:t>a balance. On </a:t>
            </a:r>
            <a:pPr indent="0" marL="0">
              <a:lnSpc>
                <a:spcPct val="120000"/>
              </a:lnSpc>
              <a:buNone/>
            </a:pPr>
            <a:r>
              <a:rPr lang="en-US" sz="2100" b="1" dirty="0">
                <a:solidFill>
                  <a:srgbClr val="1E2761"/>
                </a:solidFill>
                <a:latin typeface="Calibri" pitchFamily="34" charset="0"/>
                <a:ea typeface="Calibri" pitchFamily="34" charset="-122"/>
                <a:cs typeface="Calibri" pitchFamily="34" charset="-120"/>
              </a:rPr>
              <a:t>select</a:t>
            </a:r>
            <a:pPr indent="0" marL="0">
              <a:lnSpc>
                <a:spcPct val="120000"/>
              </a:lnSpc>
              <a:buNone/>
            </a:pPr>
            <a:r>
              <a:rPr lang="en-US" sz="2100" dirty="0">
                <a:solidFill>
                  <a:srgbClr val="1C2340"/>
                </a:solidFill>
                <a:latin typeface="Calibri" pitchFamily="34" charset="0"/>
                <a:ea typeface="Calibri" pitchFamily="34" charset="-122"/>
                <a:cs typeface="Calibri" pitchFamily="34" charset="-120"/>
              </a:rPr>
              <a:t>: if it's in stock and the balance covers the price, </a:t>
            </a:r>
            <a:pPr indent="0" marL="0">
              <a:lnSpc>
                <a:spcPct val="120000"/>
              </a:lnSpc>
              <a:buNone/>
            </a:pPr>
            <a:r>
              <a:rPr lang="en-US" sz="2100" b="1" dirty="0">
                <a:solidFill>
                  <a:srgbClr val="1E2761"/>
                </a:solidFill>
                <a:latin typeface="Calibri" pitchFamily="34" charset="0"/>
                <a:ea typeface="Calibri" pitchFamily="34" charset="-122"/>
                <a:cs typeface="Calibri" pitchFamily="34" charset="-120"/>
              </a:rPr>
              <a:t>dispense </a:t>
            </a:r>
            <a:pPr indent="0" marL="0">
              <a:lnSpc>
                <a:spcPct val="120000"/>
              </a:lnSpc>
              <a:buNone/>
            </a:pPr>
            <a:r>
              <a:rPr lang="en-US" sz="2100" dirty="0">
                <a:solidFill>
                  <a:srgbClr val="1C2340"/>
                </a:solidFill>
                <a:latin typeface="Calibri" pitchFamily="34" charset="0"/>
                <a:ea typeface="Calibri" pitchFamily="34" charset="-122"/>
                <a:cs typeface="Calibri" pitchFamily="34" charset="-120"/>
              </a:rPr>
              <a:t>and return change; if short, say so and keep the money; if sold out, say so. </a:t>
            </a:r>
            <a:pPr indent="0" marL="0">
              <a:lnSpc>
                <a:spcPct val="120000"/>
              </a:lnSpc>
              <a:buNone/>
            </a:pPr>
            <a:r>
              <a:rPr lang="en-US" sz="2100" b="1" dirty="0">
                <a:solidFill>
                  <a:srgbClr val="1E2761"/>
                </a:solidFill>
                <a:latin typeface="Calibri" pitchFamily="34" charset="0"/>
                <a:ea typeface="Calibri" pitchFamily="34" charset="-122"/>
                <a:cs typeface="Calibri" pitchFamily="34" charset="-120"/>
              </a:rPr>
              <a:t>Cancel </a:t>
            </a:r>
            <a:pPr indent="0" marL="0">
              <a:lnSpc>
                <a:spcPct val="120000"/>
              </a:lnSpc>
              <a:buNone/>
            </a:pPr>
            <a:r>
              <a:rPr lang="en-US" sz="2100" dirty="0">
                <a:solidFill>
                  <a:srgbClr val="1C2340"/>
                </a:solidFill>
                <a:latin typeface="Calibri" pitchFamily="34" charset="0"/>
                <a:ea typeface="Calibri" pitchFamily="34" charset="-122"/>
                <a:cs typeface="Calibri" pitchFamily="34" charset="-120"/>
              </a:rPr>
              <a:t>any time for a full refund. After dispensing, return to idle.</a:t>
            </a:r>
            <a:endParaRPr lang="en-US" sz="2100" dirty="0"/>
          </a:p>
        </p:txBody>
      </p:sp>
      <p:sp>
        <p:nvSpPr>
          <p:cNvPr id="6" name="Text 4"/>
          <p:cNvSpPr/>
          <p:nvPr/>
        </p:nvSpPr>
        <p:spPr>
          <a:xfrm>
            <a:off x="548640" y="4709160"/>
            <a:ext cx="11064240" cy="731520"/>
          </a:xfrm>
          <a:prstGeom prst="rect">
            <a:avLst/>
          </a:prstGeom>
          <a:noFill/>
          <a:ln/>
        </p:spPr>
        <p:txBody>
          <a:bodyPr wrap="square" lIns="0" tIns="0" rIns="0" bIns="0" rtlCol="0" anchor="ctr"/>
          <a:lstStyle/>
          <a:p>
            <a:pPr indent="0" marL="0">
              <a:lnSpc>
                <a:spcPct val="105000"/>
              </a:lnSpc>
              <a:buNone/>
            </a:pPr>
            <a:r>
              <a:rPr lang="en-US" sz="1600" i="1" dirty="0">
                <a:solidFill>
                  <a:srgbClr val="5C6690"/>
                </a:solidFill>
                <a:latin typeface="Calibri" pitchFamily="34" charset="0"/>
                <a:ea typeface="Calibri" pitchFamily="34" charset="-122"/>
                <a:cs typeface="Calibri" pitchFamily="34" charset="-120"/>
              </a:rPr>
              <a:t>That paragraph is all a domain expert needs to hand over. The work is turning it into something complete and disjoint — which is where the agent earns its keep.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STEP 2 — THE REVIEWED SPEC</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The Parnas table (a Mealy machine)</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57200"/>
                <a:gridCol w="1737360"/>
                <a:gridCol w="2148840"/>
                <a:gridCol w="2606040"/>
                <a:gridCol w="2148840"/>
                <a:gridCol w="1965960"/>
              </a:tblGrid>
              <a:tr h="40233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Guard</a:t>
                      </a:r>
                      <a:endParaRPr lang="en-US" sz="120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New State</a:t>
                      </a:r>
                      <a:endParaRPr lang="en-US" sz="120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Outputs</a:t>
                      </a:r>
                      <a:endParaRPr lang="en-US" sz="120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insertCoin(c)</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Collecting(c)</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showBalance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selectProduct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insufficientFunds</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cancel</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insertCoin(c)</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Collecting(b+c)</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showBalance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selectProduct(p)</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b="1" dirty="0">
                          <a:solidFill>
                            <a:srgbClr val="2FB170"/>
                          </a:solidFill>
                          <a:latin typeface="Calibri" pitchFamily="34" charset="0"/>
                          <a:ea typeface="Calibri" pitchFamily="34" charset="-122"/>
                          <a:cs typeface="Calibri" pitchFamily="34" charset="-120"/>
                        </a:rPr>
                        <a:t>inStock ∧ b ≥ price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Dispensing</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dispense, makeChange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selectProduct(p)</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b="1" dirty="0">
                          <a:solidFill>
                            <a:srgbClr val="F7A32B"/>
                          </a:solidFill>
                          <a:latin typeface="Calibri" pitchFamily="34" charset="0"/>
                          <a:ea typeface="Calibri" pitchFamily="34" charset="-122"/>
                          <a:cs typeface="Calibri" pitchFamily="34" charset="-120"/>
                        </a:rPr>
                        <a:t>inStock ∧ b &lt; price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insufficientFunds</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selectProduct(p)</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b="1" dirty="0">
                          <a:solidFill>
                            <a:srgbClr val="D6455B"/>
                          </a:solidFill>
                          <a:latin typeface="Calibri" pitchFamily="34" charset="0"/>
                          <a:ea typeface="Calibri" pitchFamily="34" charset="-122"/>
                          <a:cs typeface="Calibri" pitchFamily="34" charset="-120"/>
                        </a:rPr>
                        <a:t>¬inStock</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outOfStock</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Collecting(b)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cancel</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refund(b)</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402336">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Dispensing</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dispenseComplete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1C2340"/>
                          </a:solidFill>
                          <a:latin typeface="Calibri" pitchFamily="34" charset="0"/>
                          <a:ea typeface="Calibri" pitchFamily="34" charset="-122"/>
                          <a:cs typeface="Calibri" pitchFamily="34" charset="-120"/>
                        </a:rPr>
                        <a:t>Idle</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l" indent="0" marL="0">
                        <a:buNone/>
                      </a:pPr>
                      <a:r>
                        <a:rPr lang="en-US" sz="1150" dirty="0">
                          <a:solidFill>
                            <a:srgbClr val="5C669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25400" marB="2540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bl>
          </a:graphicData>
        </a:graphic>
      </p:graphicFrame>
      <p:sp>
        <p:nvSpPr>
          <p:cNvPr id="5" name="Text 2"/>
          <p:cNvSpPr/>
          <p:nvPr/>
        </p:nvSpPr>
        <p:spPr>
          <a:xfrm>
            <a:off x="548640" y="6172200"/>
            <a:ext cx="110642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Rows 5·6·7 </a:t>
            </a:r>
            <a:pPr indent="0" marL="0">
              <a:buNone/>
            </a:pPr>
            <a:r>
              <a:rPr lang="en-US" sz="1400" dirty="0">
                <a:solidFill>
                  <a:srgbClr val="5C6690"/>
                </a:solidFill>
                <a:latin typeface="Calibri" pitchFamily="34" charset="0"/>
                <a:ea typeface="Calibri" pitchFamily="34" charset="-122"/>
                <a:cs typeface="Calibri" pitchFamily="34" charset="-120"/>
              </a:rPr>
              <a:t>share the same State + Event — split only by their </a:t>
            </a:r>
            <a:pPr indent="0" marL="0">
              <a:buNone/>
            </a:pPr>
            <a:r>
              <a:rPr lang="en-US" sz="1400" b="1" dirty="0">
                <a:solidFill>
                  <a:srgbClr val="F7A32B"/>
                </a:solidFill>
                <a:latin typeface="Calibri" pitchFamily="34" charset="0"/>
                <a:ea typeface="Calibri" pitchFamily="34" charset="-122"/>
                <a:cs typeface="Calibri" pitchFamily="34" charset="-120"/>
              </a:rPr>
              <a:t>guards</a:t>
            </a:r>
            <a:pPr indent="0" marL="0">
              <a:buNone/>
            </a:pPr>
            <a:r>
              <a:rPr lang="en-US" sz="1400" dirty="0">
                <a:solidFill>
                  <a:srgbClr val="5C6690"/>
                </a:solidFill>
                <a:latin typeface="Calibri" pitchFamily="34" charset="0"/>
                <a:ea typeface="Calibri" pitchFamily="34" charset="-122"/>
                <a:cs typeface="Calibri" pitchFamily="34" charset="-120"/>
              </a:rPr>
              <a:t>. That's the moment a flowchart can't show.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STEP 2A — VERIFY</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Completeness: every cell is a decision</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920240"/>
                <a:gridCol w="2057400"/>
                <a:gridCol w="2514600"/>
                <a:gridCol w="1874520"/>
                <a:gridCol w="2697480"/>
              </a:tblGrid>
              <a:tr h="658368">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insertCoin</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selectProduct</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cancel</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dispenseComplete</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1E2761"/>
                    </a:solidFill>
                  </a:tcPr>
                </a:tc>
              </a:tr>
              <a:tr h="65836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Idle</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EAEEFA"/>
                    </a:solidFill>
                  </a:tcPr>
                </a:tc>
                <a:tc>
                  <a:txBody>
                    <a:bodyPr/>
                    <a:lstStyle/>
                    <a:p>
                      <a:pPr algn="ctr" indent="0" marL="0">
                        <a:buNone/>
                      </a:pPr>
                      <a:r>
                        <a:rPr lang="en-US" sz="1300" dirty="0">
                          <a:solidFill>
                            <a:srgbClr val="1C2340"/>
                          </a:solidFill>
                          <a:latin typeface="Calibri" pitchFamily="34" charset="0"/>
                          <a:ea typeface="Calibri" pitchFamily="34" charset="-122"/>
                          <a:cs typeface="Calibri" pitchFamily="34" charset="-120"/>
                        </a:rPr>
                        <a:t>row 1</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dirty="0">
                          <a:solidFill>
                            <a:srgbClr val="1C2340"/>
                          </a:solidFill>
                          <a:latin typeface="Calibri" pitchFamily="34" charset="0"/>
                          <a:ea typeface="Calibri" pitchFamily="34" charset="-122"/>
                          <a:cs typeface="Calibri" pitchFamily="34" charset="-120"/>
                        </a:rPr>
                        <a:t>row 2</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dirty="0">
                          <a:solidFill>
                            <a:srgbClr val="1C2340"/>
                          </a:solidFill>
                          <a:latin typeface="Calibri" pitchFamily="34" charset="0"/>
                          <a:ea typeface="Calibri" pitchFamily="34" charset="-122"/>
                          <a:cs typeface="Calibri" pitchFamily="34" charset="-120"/>
                        </a:rPr>
                        <a:t>row 3</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i="1" dirty="0">
                          <a:solidFill>
                            <a:srgbClr val="5C6690"/>
                          </a:solidFill>
                          <a:latin typeface="Calibri" pitchFamily="34" charset="0"/>
                          <a:ea typeface="Calibri" pitchFamily="34" charset="-122"/>
                          <a:cs typeface="Calibri" pitchFamily="34" charset="-120"/>
                        </a:rPr>
                        <a:t>no-op</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65836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Collecting</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EAEEFA"/>
                    </a:solidFill>
                  </a:tcPr>
                </a:tc>
                <a:tc>
                  <a:txBody>
                    <a:bodyPr/>
                    <a:lstStyle/>
                    <a:p>
                      <a:pPr algn="ctr" indent="0" marL="0">
                        <a:buNone/>
                      </a:pPr>
                      <a:r>
                        <a:rPr lang="en-US" sz="1300" dirty="0">
                          <a:solidFill>
                            <a:srgbClr val="1C2340"/>
                          </a:solidFill>
                          <a:latin typeface="Calibri" pitchFamily="34" charset="0"/>
                          <a:ea typeface="Calibri" pitchFamily="34" charset="-122"/>
                          <a:cs typeface="Calibri" pitchFamily="34" charset="-120"/>
                        </a:rPr>
                        <a:t>row 4</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rows 5·6·7</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FDEFD6"/>
                    </a:solidFill>
                  </a:tcPr>
                </a:tc>
                <a:tc>
                  <a:txBody>
                    <a:bodyPr/>
                    <a:lstStyle/>
                    <a:p>
                      <a:pPr algn="ctr" indent="0" marL="0">
                        <a:buNone/>
                      </a:pPr>
                      <a:r>
                        <a:rPr lang="en-US" sz="1300" dirty="0">
                          <a:solidFill>
                            <a:srgbClr val="1C2340"/>
                          </a:solidFill>
                          <a:latin typeface="Calibri" pitchFamily="34" charset="0"/>
                          <a:ea typeface="Calibri" pitchFamily="34" charset="-122"/>
                          <a:cs typeface="Calibri" pitchFamily="34" charset="-120"/>
                        </a:rPr>
                        <a:t>row 8</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i="1" dirty="0">
                          <a:solidFill>
                            <a:srgbClr val="5C6690"/>
                          </a:solidFill>
                          <a:latin typeface="Calibri" pitchFamily="34" charset="0"/>
                          <a:ea typeface="Calibri" pitchFamily="34" charset="-122"/>
                          <a:cs typeface="Calibri" pitchFamily="34" charset="-120"/>
                        </a:rPr>
                        <a:t>no-op</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r h="658368">
                <a:tc>
                  <a:txBody>
                    <a:bodyPr/>
                    <a:lstStyle/>
                    <a:p>
                      <a:pPr algn="l" indent="0" marL="0">
                        <a:buNone/>
                      </a:pPr>
                      <a:r>
                        <a:rPr lang="en-US" sz="1300" b="1" dirty="0">
                          <a:solidFill>
                            <a:srgbClr val="1E2761"/>
                          </a:solidFill>
                          <a:latin typeface="Calibri" pitchFamily="34" charset="0"/>
                          <a:ea typeface="Calibri" pitchFamily="34" charset="-122"/>
                          <a:cs typeface="Calibri" pitchFamily="34" charset="-120"/>
                        </a:rPr>
                        <a:t>Dispensing</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solidFill>
                      <a:srgbClr val="EAEEFA"/>
                    </a:solidFill>
                  </a:tcPr>
                </a:tc>
                <a:tc>
                  <a:txBody>
                    <a:bodyPr/>
                    <a:lstStyle/>
                    <a:p>
                      <a:pPr algn="ctr" indent="0" marL="0">
                        <a:buNone/>
                      </a:pPr>
                      <a:r>
                        <a:rPr lang="en-US" sz="1300" i="1" dirty="0">
                          <a:solidFill>
                            <a:srgbClr val="5C6690"/>
                          </a:solidFill>
                          <a:latin typeface="Calibri" pitchFamily="34" charset="0"/>
                          <a:ea typeface="Calibri" pitchFamily="34" charset="-122"/>
                          <a:cs typeface="Calibri" pitchFamily="34" charset="-120"/>
                        </a:rPr>
                        <a:t>ignore</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i="1" dirty="0">
                          <a:solidFill>
                            <a:srgbClr val="5C6690"/>
                          </a:solidFill>
                          <a:latin typeface="Calibri" pitchFamily="34" charset="0"/>
                          <a:ea typeface="Calibri" pitchFamily="34" charset="-122"/>
                          <a:cs typeface="Calibri" pitchFamily="34" charset="-120"/>
                        </a:rPr>
                        <a:t>ignore</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i="1" dirty="0">
                          <a:solidFill>
                            <a:srgbClr val="5C6690"/>
                          </a:solidFill>
                          <a:latin typeface="Calibri" pitchFamily="34" charset="0"/>
                          <a:ea typeface="Calibri" pitchFamily="34" charset="-122"/>
                          <a:cs typeface="Calibri" pitchFamily="34" charset="-120"/>
                        </a:rPr>
                        <a:t>ignore</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c>
                  <a:txBody>
                    <a:bodyPr/>
                    <a:lstStyle/>
                    <a:p>
                      <a:pPr algn="ctr" indent="0" marL="0">
                        <a:buNone/>
                      </a:pPr>
                      <a:r>
                        <a:rPr lang="en-US" sz="1300" dirty="0">
                          <a:solidFill>
                            <a:srgbClr val="1C2340"/>
                          </a:solidFill>
                          <a:latin typeface="Calibri" pitchFamily="34" charset="0"/>
                          <a:ea typeface="Calibri" pitchFamily="34" charset="-122"/>
                          <a:cs typeface="Calibri" pitchFamily="34" charset="-120"/>
                        </a:rPr>
                        <a:t>row 9</a:t>
                      </a:r>
                      <a:endParaRPr lang="en-US" sz="1300" dirty="0">
                        <a:latin typeface="Calibri" charset="0"/>
                        <a:ea typeface="Calibri" charset="0"/>
                        <a:cs typeface="Calibri" charset="0"/>
                      </a:endParaRPr>
                    </a:p>
                  </a:txBody>
                  <a:tcPr marL="91440" marR="91440" marT="45720" marB="45720" anchor="ctr">
                    <a:lnL w="12700" cap="flat" cmpd="sng" algn="ctr">
                      <a:solidFill>
                        <a:srgbClr val="E2E6F5"/>
                      </a:solidFill>
                      <a:prstDash val="solid"/>
                      <a:round/>
                      <a:headEnd type="none" w="med" len="med"/>
                      <a:tailEnd type="none" w="med" len="med"/>
                    </a:lnL>
                    <a:lnR w="12700" cap="flat" cmpd="sng" algn="ctr">
                      <a:solidFill>
                        <a:srgbClr val="E2E6F5"/>
                      </a:solidFill>
                      <a:prstDash val="solid"/>
                      <a:round/>
                      <a:headEnd type="none" w="med" len="med"/>
                      <a:tailEnd type="none" w="med" len="med"/>
                    </a:lnR>
                    <a:lnT w="12700" cap="flat" cmpd="sng" algn="ctr">
                      <a:solidFill>
                        <a:srgbClr val="E2E6F5"/>
                      </a:solidFill>
                      <a:prstDash val="solid"/>
                      <a:round/>
                      <a:headEnd type="none" w="med" len="med"/>
                      <a:tailEnd type="none" w="med" len="med"/>
                    </a:lnT>
                    <a:lnB w="12700" cap="flat" cmpd="sng" algn="ctr">
                      <a:solidFill>
                        <a:srgbClr val="E2E6F5"/>
                      </a:solidFill>
                      <a:prstDash val="solid"/>
                      <a:round/>
                      <a:headEnd type="none" w="med" len="med"/>
                      <a:tailEnd type="none" w="med" len="med"/>
                    </a:lnB>
                  </a:tcPr>
                </a:tc>
              </a:tr>
            </a:tbl>
          </a:graphicData>
        </a:graphic>
      </p:graphicFrame>
      <p:sp>
        <p:nvSpPr>
          <p:cNvPr id="5" name="Text 2"/>
          <p:cNvSpPr/>
          <p:nvPr/>
        </p:nvSpPr>
        <p:spPr>
          <a:xfrm>
            <a:off x="548640" y="4892040"/>
            <a:ext cx="11064240" cy="822960"/>
          </a:xfrm>
          <a:prstGeom prst="rect">
            <a:avLst/>
          </a:prstGeom>
          <a:noFill/>
          <a:ln/>
        </p:spPr>
        <p:txBody>
          <a:bodyPr wrap="square" lIns="0" tIns="0" rIns="0" bIns="0" rtlCol="0" anchor="ctr"/>
          <a:lstStyle/>
          <a:p>
            <a:pPr indent="0" marL="0">
              <a:lnSpc>
                <a:spcPct val="110000"/>
              </a:lnSpc>
              <a:buNone/>
            </a:pPr>
            <a:r>
              <a:rPr lang="en-US" sz="1700" b="1" dirty="0">
                <a:solidFill>
                  <a:srgbClr val="1E2761"/>
                </a:solidFill>
                <a:latin typeface="Calibri" pitchFamily="34" charset="0"/>
                <a:ea typeface="Calibri" pitchFamily="34" charset="-122"/>
                <a:cs typeface="Calibri" pitchFamily="34" charset="-120"/>
              </a:rPr>
              <a:t>The blanks are decisions, not oversights. </a:t>
            </a:r>
            <a:pPr indent="0" marL="0">
              <a:lnSpc>
                <a:spcPct val="110000"/>
              </a:lnSpc>
              <a:buNone/>
            </a:pPr>
            <a:r>
              <a:rPr lang="en-US" sz="1700" dirty="0">
                <a:solidFill>
                  <a:srgbClr val="1C2340"/>
                </a:solidFill>
                <a:latin typeface="Calibri" pitchFamily="34" charset="0"/>
                <a:ea typeface="Calibri" pitchFamily="34" charset="-122"/>
                <a:cs typeface="Calibri" pitchFamily="34" charset="-120"/>
              </a:rPr>
              <a:t>“Ignore” and “no-op” are choices we state out loud — and Swift's exhaustive switch </a:t>
            </a:r>
            <a:pPr indent="0" marL="0">
              <a:lnSpc>
                <a:spcPct val="110000"/>
              </a:lnSpc>
              <a:buNone/>
            </a:pPr>
            <a:r>
              <a:rPr lang="en-US" sz="1700" b="1" i="1" dirty="0">
                <a:solidFill>
                  <a:srgbClr val="F7A32B"/>
                </a:solidFill>
                <a:latin typeface="Calibri" pitchFamily="34" charset="0"/>
                <a:ea typeface="Calibri" pitchFamily="34" charset="-122"/>
                <a:cs typeface="Calibri" pitchFamily="34" charset="-120"/>
              </a:rPr>
              <a:t>forces</a:t>
            </a:r>
            <a:pPr indent="0" marL="0">
              <a:lnSpc>
                <a:spcPct val="110000"/>
              </a:lnSpc>
              <a:buNone/>
            </a:pPr>
            <a:r>
              <a:rPr lang="en-US" sz="1700" dirty="0">
                <a:solidFill>
                  <a:srgbClr val="1C2340"/>
                </a:solidFill>
                <a:latin typeface="Calibri" pitchFamily="34" charset="0"/>
                <a:ea typeface="Calibri" pitchFamily="34" charset="-122"/>
                <a:cs typeface="Calibri" pitchFamily="34" charset="-120"/>
              </a:rPr>
              <a:t> us to. “We forgot” becomes impossible.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STEP 2B — VERIFY</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Disjointness: the guards partition cleanly</a:t>
            </a:r>
            <a:endParaRPr lang="en-US" sz="3400" dirty="0"/>
          </a:p>
        </p:txBody>
      </p:sp>
      <p:sp>
        <p:nvSpPr>
          <p:cNvPr id="4" name="Text 2"/>
          <p:cNvSpPr/>
          <p:nvPr/>
        </p:nvSpPr>
        <p:spPr>
          <a:xfrm>
            <a:off x="548640" y="1600200"/>
            <a:ext cx="11064240" cy="640080"/>
          </a:xfrm>
          <a:prstGeom prst="rect">
            <a:avLst/>
          </a:prstGeom>
          <a:noFill/>
          <a:ln/>
        </p:spPr>
        <p:txBody>
          <a:bodyPr wrap="square" lIns="0" tIns="0" rIns="0" bIns="0" rtlCol="0" anchor="ctr"/>
          <a:lstStyle/>
          <a:p>
            <a:pPr indent="0" marL="0">
              <a:lnSpc>
                <a:spcPct val="110000"/>
              </a:lnSpc>
              <a:buNone/>
            </a:pPr>
            <a:r>
              <a:rPr lang="en-US" sz="1700" dirty="0">
                <a:solidFill>
                  <a:srgbClr val="1C2340"/>
                </a:solidFill>
                <a:latin typeface="Calibri" pitchFamily="34" charset="0"/>
                <a:ea typeface="Calibri" pitchFamily="34" charset="-122"/>
                <a:cs typeface="Calibri" pitchFamily="34" charset="-120"/>
              </a:rPr>
              <a:t>Rows 5 · 6 · 7 all match (Collecting, selectProduct). They're safe only because their guards are mutually exclusive and exhaustive:</a:t>
            </a:r>
            <a:endParaRPr lang="en-US" sz="1700" dirty="0"/>
          </a:p>
        </p:txBody>
      </p:sp>
      <p:sp>
        <p:nvSpPr>
          <p:cNvPr id="5" name="Shape 3"/>
          <p:cNvSpPr/>
          <p:nvPr/>
        </p:nvSpPr>
        <p:spPr>
          <a:xfrm>
            <a:off x="548640" y="2468880"/>
            <a:ext cx="3444240" cy="1920240"/>
          </a:xfrm>
          <a:prstGeom prst="roundRect">
            <a:avLst>
              <a:gd name="adj" fmla="val 5714"/>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6" name="Shape 4"/>
          <p:cNvSpPr/>
          <p:nvPr/>
        </p:nvSpPr>
        <p:spPr>
          <a:xfrm>
            <a:off x="822960" y="2743200"/>
            <a:ext cx="457200" cy="457200"/>
          </a:xfrm>
          <a:prstGeom prst="ellipse">
            <a:avLst/>
          </a:prstGeom>
          <a:solidFill>
            <a:srgbClr val="2FB170"/>
          </a:solidFill>
          <a:ln/>
        </p:spPr>
      </p:sp>
      <p:sp>
        <p:nvSpPr>
          <p:cNvPr id="7" name="Text 5"/>
          <p:cNvSpPr/>
          <p:nvPr/>
        </p:nvSpPr>
        <p:spPr>
          <a:xfrm>
            <a:off x="822960"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8" name="Text 6"/>
          <p:cNvSpPr/>
          <p:nvPr/>
        </p:nvSpPr>
        <p:spPr>
          <a:xfrm>
            <a:off x="822960" y="3337560"/>
            <a:ext cx="2895600" cy="45720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inStock ∧ b ≥ price</a:t>
            </a:r>
            <a:endParaRPr lang="en-US" sz="1500" dirty="0"/>
          </a:p>
        </p:txBody>
      </p:sp>
      <p:sp>
        <p:nvSpPr>
          <p:cNvPr id="9" name="Text 7"/>
          <p:cNvSpPr/>
          <p:nvPr/>
        </p:nvSpPr>
        <p:spPr>
          <a:xfrm>
            <a:off x="822960" y="3794760"/>
            <a:ext cx="2895600" cy="457200"/>
          </a:xfrm>
          <a:prstGeom prst="rect">
            <a:avLst/>
          </a:prstGeom>
          <a:noFill/>
          <a:ln/>
        </p:spPr>
        <p:txBody>
          <a:bodyPr wrap="square" lIns="0" tIns="0" rIns="0" bIns="0" rtlCol="0" anchor="ctr"/>
          <a:lstStyle/>
          <a:p>
            <a:pPr indent="0" marL="0">
              <a:buNone/>
            </a:pPr>
            <a:r>
              <a:rPr lang="en-US" sz="1500" dirty="0">
                <a:solidFill>
                  <a:srgbClr val="1C2340"/>
                </a:solidFill>
                <a:latin typeface="Calibri" pitchFamily="34" charset="0"/>
                <a:ea typeface="Calibri" pitchFamily="34" charset="-122"/>
                <a:cs typeface="Calibri" pitchFamily="34" charset="-120"/>
              </a:rPr>
              <a:t>→ Dispense + change</a:t>
            </a:r>
            <a:endParaRPr lang="en-US" sz="1500" dirty="0"/>
          </a:p>
        </p:txBody>
      </p:sp>
      <p:sp>
        <p:nvSpPr>
          <p:cNvPr id="10" name="Shape 8"/>
          <p:cNvSpPr/>
          <p:nvPr/>
        </p:nvSpPr>
        <p:spPr>
          <a:xfrm>
            <a:off x="4358640" y="2468880"/>
            <a:ext cx="3444240" cy="1920240"/>
          </a:xfrm>
          <a:prstGeom prst="roundRect">
            <a:avLst>
              <a:gd name="adj" fmla="val 5714"/>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1" name="Shape 9"/>
          <p:cNvSpPr/>
          <p:nvPr/>
        </p:nvSpPr>
        <p:spPr>
          <a:xfrm>
            <a:off x="4632960" y="2743200"/>
            <a:ext cx="457200" cy="457200"/>
          </a:xfrm>
          <a:prstGeom prst="ellipse">
            <a:avLst/>
          </a:prstGeom>
          <a:solidFill>
            <a:srgbClr val="F7A32B"/>
          </a:solidFill>
          <a:ln/>
        </p:spPr>
      </p:sp>
      <p:sp>
        <p:nvSpPr>
          <p:cNvPr id="12" name="Text 10"/>
          <p:cNvSpPr/>
          <p:nvPr/>
        </p:nvSpPr>
        <p:spPr>
          <a:xfrm>
            <a:off x="4632960"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13" name="Text 11"/>
          <p:cNvSpPr/>
          <p:nvPr/>
        </p:nvSpPr>
        <p:spPr>
          <a:xfrm>
            <a:off x="4632960" y="3337560"/>
            <a:ext cx="2895600" cy="45720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inStock ∧ b &lt; price</a:t>
            </a:r>
            <a:endParaRPr lang="en-US" sz="1500" dirty="0"/>
          </a:p>
        </p:txBody>
      </p:sp>
      <p:sp>
        <p:nvSpPr>
          <p:cNvPr id="14" name="Text 12"/>
          <p:cNvSpPr/>
          <p:nvPr/>
        </p:nvSpPr>
        <p:spPr>
          <a:xfrm>
            <a:off x="4632960" y="3794760"/>
            <a:ext cx="2895600" cy="457200"/>
          </a:xfrm>
          <a:prstGeom prst="rect">
            <a:avLst/>
          </a:prstGeom>
          <a:noFill/>
          <a:ln/>
        </p:spPr>
        <p:txBody>
          <a:bodyPr wrap="square" lIns="0" tIns="0" rIns="0" bIns="0" rtlCol="0" anchor="ctr"/>
          <a:lstStyle/>
          <a:p>
            <a:pPr indent="0" marL="0">
              <a:buNone/>
            </a:pPr>
            <a:r>
              <a:rPr lang="en-US" sz="1500" dirty="0">
                <a:solidFill>
                  <a:srgbClr val="1C2340"/>
                </a:solidFill>
                <a:latin typeface="Calibri" pitchFamily="34" charset="0"/>
                <a:ea typeface="Calibri" pitchFamily="34" charset="-122"/>
                <a:cs typeface="Calibri" pitchFamily="34" charset="-120"/>
              </a:rPr>
              <a:t>→ Insufficient funds</a:t>
            </a:r>
            <a:endParaRPr lang="en-US" sz="1500" dirty="0"/>
          </a:p>
        </p:txBody>
      </p:sp>
      <p:sp>
        <p:nvSpPr>
          <p:cNvPr id="15" name="Shape 13"/>
          <p:cNvSpPr/>
          <p:nvPr/>
        </p:nvSpPr>
        <p:spPr>
          <a:xfrm>
            <a:off x="8168640" y="2468880"/>
            <a:ext cx="3444240" cy="1920240"/>
          </a:xfrm>
          <a:prstGeom prst="roundRect">
            <a:avLst>
              <a:gd name="adj" fmla="val 5714"/>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6" name="Shape 14"/>
          <p:cNvSpPr/>
          <p:nvPr/>
        </p:nvSpPr>
        <p:spPr>
          <a:xfrm>
            <a:off x="8442960" y="2743200"/>
            <a:ext cx="457200" cy="457200"/>
          </a:xfrm>
          <a:prstGeom prst="ellipse">
            <a:avLst/>
          </a:prstGeom>
          <a:solidFill>
            <a:srgbClr val="D6455B"/>
          </a:solidFill>
          <a:ln/>
        </p:spPr>
      </p:sp>
      <p:sp>
        <p:nvSpPr>
          <p:cNvPr id="17" name="Text 15"/>
          <p:cNvSpPr/>
          <p:nvPr/>
        </p:nvSpPr>
        <p:spPr>
          <a:xfrm>
            <a:off x="8442960"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18" name="Text 16"/>
          <p:cNvSpPr/>
          <p:nvPr/>
        </p:nvSpPr>
        <p:spPr>
          <a:xfrm>
            <a:off x="8442960" y="3337560"/>
            <a:ext cx="2895600" cy="45720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¬inStock</a:t>
            </a:r>
            <a:endParaRPr lang="en-US" sz="1500" dirty="0"/>
          </a:p>
        </p:txBody>
      </p:sp>
      <p:sp>
        <p:nvSpPr>
          <p:cNvPr id="19" name="Text 17"/>
          <p:cNvSpPr/>
          <p:nvPr/>
        </p:nvSpPr>
        <p:spPr>
          <a:xfrm>
            <a:off x="8442960" y="3794760"/>
            <a:ext cx="2895600" cy="457200"/>
          </a:xfrm>
          <a:prstGeom prst="rect">
            <a:avLst/>
          </a:prstGeom>
          <a:noFill/>
          <a:ln/>
        </p:spPr>
        <p:txBody>
          <a:bodyPr wrap="square" lIns="0" tIns="0" rIns="0" bIns="0" rtlCol="0" anchor="ctr"/>
          <a:lstStyle/>
          <a:p>
            <a:pPr indent="0" marL="0">
              <a:buNone/>
            </a:pPr>
            <a:r>
              <a:rPr lang="en-US" sz="1500" dirty="0">
                <a:solidFill>
                  <a:srgbClr val="1C2340"/>
                </a:solidFill>
                <a:latin typeface="Calibri" pitchFamily="34" charset="0"/>
                <a:ea typeface="Calibri" pitchFamily="34" charset="-122"/>
                <a:cs typeface="Calibri" pitchFamily="34" charset="-120"/>
              </a:rPr>
              <a:t>→ Sold out</a:t>
            </a:r>
            <a:endParaRPr lang="en-US" sz="1500" dirty="0"/>
          </a:p>
        </p:txBody>
      </p:sp>
      <p:sp>
        <p:nvSpPr>
          <p:cNvPr id="20" name="Text 18"/>
          <p:cNvSpPr/>
          <p:nvPr/>
        </p:nvSpPr>
        <p:spPr>
          <a:xfrm>
            <a:off x="548640" y="4892040"/>
            <a:ext cx="11064240" cy="731520"/>
          </a:xfrm>
          <a:prstGeom prst="rect">
            <a:avLst/>
          </a:prstGeom>
          <a:noFill/>
          <a:ln/>
        </p:spPr>
        <p:txBody>
          <a:bodyPr wrap="square" lIns="0" tIns="0" rIns="0" bIns="0" rtlCol="0" anchor="ctr"/>
          <a:lstStyle/>
          <a:p>
            <a:pPr indent="0" marL="0">
              <a:lnSpc>
                <a:spcPct val="110000"/>
              </a:lnSpc>
              <a:buNone/>
            </a:pPr>
            <a:r>
              <a:rPr lang="en-US" sz="1600" b="1" dirty="0">
                <a:solidFill>
                  <a:srgbClr val="1E2761"/>
                </a:solidFill>
                <a:latin typeface="Calibri" pitchFamily="34" charset="0"/>
                <a:ea typeface="Calibri" pitchFamily="34" charset="-122"/>
                <a:cs typeface="Calibri" pitchFamily="34" charset="-120"/>
              </a:rPr>
              <a:t>No gap, no overlap. </a:t>
            </a:r>
            <a:pPr indent="0" marL="0">
              <a:lnSpc>
                <a:spcPct val="110000"/>
              </a:lnSpc>
              <a:buNone/>
            </a:pPr>
            <a:r>
              <a:rPr lang="en-US" sz="1600" dirty="0">
                <a:solidFill>
                  <a:srgbClr val="5C6690"/>
                </a:solidFill>
                <a:latin typeface="Calibri" pitchFamily="34" charset="0"/>
                <a:ea typeface="Calibri" pitchFamily="34" charset="-122"/>
                <a:cs typeface="Calibri" pitchFamily="34" charset="-120"/>
              </a:rPr>
              <a:t>A flowchart hides this three-way split inside imperative if/else. A table makes the partition something you can point at — and prove.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937"/>
        </a:solidFill>
      </p:bgPr>
    </p:bg>
    <p:spTree>
      <p:nvGrpSpPr>
        <p:cNvPr id="1" name=""/>
        <p:cNvGrpSpPr/>
        <p:nvPr/>
      </p:nvGrpSpPr>
      <p:grpSpPr>
        <a:xfrm>
          <a:off x="0" y="0"/>
          <a:ext cx="0" cy="0"/>
          <a:chOff x="0" y="0"/>
          <a:chExt cx="0" cy="0"/>
        </a:xfrm>
      </p:grpSpPr>
      <p:sp>
        <p:nvSpPr>
          <p:cNvPr id="2" name="Text 0"/>
          <p:cNvSpPr/>
          <p:nvPr/>
        </p:nvSpPr>
        <p:spPr>
          <a:xfrm>
            <a:off x="548640" y="640080"/>
            <a:ext cx="10058400" cy="365760"/>
          </a:xfrm>
          <a:prstGeom prst="rect">
            <a:avLst/>
          </a:prstGeom>
          <a:noFill/>
          <a:ln/>
        </p:spPr>
        <p:txBody>
          <a:bodyPr wrap="square" lIns="0" tIns="0" rIns="0" bIns="0" rtlCol="0" anchor="ctr"/>
          <a:lstStyle/>
          <a:p>
            <a:pPr indent="0" marL="0">
              <a:buNone/>
            </a:pPr>
            <a:r>
              <a:rPr lang="en-US" sz="1400" b="1" spc="300" kern="0" dirty="0">
                <a:solidFill>
                  <a:srgbClr val="F7A32B"/>
                </a:solidFill>
                <a:latin typeface="Calibri" pitchFamily="34" charset="0"/>
                <a:ea typeface="Calibri" pitchFamily="34" charset="-122"/>
                <a:cs typeface="Calibri" pitchFamily="34" charset="-120"/>
              </a:rPr>
              <a:t>XCODE 27 · AGENTIC CODING</a:t>
            </a:r>
            <a:endParaRPr lang="en-US" sz="1400" dirty="0"/>
          </a:p>
        </p:txBody>
      </p:sp>
      <p:sp>
        <p:nvSpPr>
          <p:cNvPr id="3" name="Text 1"/>
          <p:cNvSpPr/>
          <p:nvPr/>
        </p:nvSpPr>
        <p:spPr>
          <a:xfrm>
            <a:off x="548640" y="1005840"/>
            <a:ext cx="10972800" cy="1005840"/>
          </a:xfrm>
          <a:prstGeom prst="rect">
            <a:avLst/>
          </a:prstGeom>
          <a:noFill/>
          <a:ln/>
        </p:spPr>
        <p:txBody>
          <a:bodyPr wrap="square" lIns="0" tIns="0" rIns="0" bIns="0" rtlCol="0" anchor="ctr"/>
          <a:lstStyle/>
          <a:p>
            <a:pPr indent="0" marL="0">
              <a:lnSpc>
                <a:spcPct val="102000"/>
              </a:lnSpc>
              <a:buNone/>
            </a:pPr>
            <a:r>
              <a:rPr lang="en-US" sz="3200" b="1" dirty="0">
                <a:solidFill>
                  <a:srgbClr val="FFFFFF"/>
                </a:solidFill>
                <a:latin typeface="Cambria" pitchFamily="34" charset="0"/>
                <a:ea typeface="Cambria" pitchFamily="34" charset="-122"/>
                <a:cs typeface="Cambria" pitchFamily="34" charset="-120"/>
              </a:rPr>
              <a:t>The plan is an editable artifact you approve before any code</a:t>
            </a:r>
            <a:endParaRPr lang="en-US" sz="3200" dirty="0"/>
          </a:p>
        </p:txBody>
      </p:sp>
      <p:sp>
        <p:nvSpPr>
          <p:cNvPr id="4" name="Shape 2"/>
          <p:cNvSpPr/>
          <p:nvPr/>
        </p:nvSpPr>
        <p:spPr>
          <a:xfrm>
            <a:off x="548640" y="2286000"/>
            <a:ext cx="5349240" cy="1417320"/>
          </a:xfrm>
          <a:prstGeom prst="roundRect">
            <a:avLst>
              <a:gd name="adj" fmla="val 6452"/>
            </a:avLst>
          </a:prstGeom>
          <a:solidFill>
            <a:srgbClr val="1E2554"/>
          </a:solidFill>
          <a:ln w="12700">
            <a:solidFill>
              <a:srgbClr val="343C74"/>
            </a:solidFill>
            <a:prstDash val="solid"/>
          </a:ln>
        </p:spPr>
      </p:sp>
      <p:sp>
        <p:nvSpPr>
          <p:cNvPr id="5" name="Text 3"/>
          <p:cNvSpPr/>
          <p:nvPr/>
        </p:nvSpPr>
        <p:spPr>
          <a:xfrm>
            <a:off x="822960" y="2468880"/>
            <a:ext cx="4800600" cy="411480"/>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Agents take actions</a:t>
            </a:r>
            <a:endParaRPr lang="en-US" sz="1800" dirty="0"/>
          </a:p>
        </p:txBody>
      </p:sp>
      <p:sp>
        <p:nvSpPr>
          <p:cNvPr id="6" name="Text 4"/>
          <p:cNvSpPr/>
          <p:nvPr/>
        </p:nvSpPr>
        <p:spPr>
          <a:xfrm>
            <a:off x="822960" y="2907792"/>
            <a:ext cx="4800600" cy="685800"/>
          </a:xfrm>
          <a:prstGeom prst="rect">
            <a:avLst/>
          </a:prstGeom>
          <a:noFill/>
          <a:ln/>
        </p:spPr>
        <p:txBody>
          <a:bodyPr wrap="square" lIns="0" tIns="0" rIns="0" bIns="0" rtlCol="0" anchor="ctr"/>
          <a:lstStyle/>
          <a:p>
            <a:pPr indent="0" marL="0">
              <a:lnSpc>
                <a:spcPct val="105000"/>
              </a:lnSpc>
              <a:buNone/>
            </a:pPr>
            <a:r>
              <a:rPr lang="en-US" sz="1400" dirty="0">
                <a:solidFill>
                  <a:srgbClr val="C7CDEC"/>
                </a:solidFill>
                <a:latin typeface="Calibri" pitchFamily="34" charset="0"/>
                <a:ea typeface="Calibri" pitchFamily="34" charset="-122"/>
                <a:cs typeface="Calibri" pitchFamily="34" charset="-120"/>
              </a:rPr>
              <a:t>Plan features, edit across files, run tests, drive the simulator — not just autocomplete.</a:t>
            </a:r>
            <a:endParaRPr lang="en-US" sz="1400" dirty="0"/>
          </a:p>
        </p:txBody>
      </p:sp>
      <p:sp>
        <p:nvSpPr>
          <p:cNvPr id="7" name="Shape 5"/>
          <p:cNvSpPr/>
          <p:nvPr/>
        </p:nvSpPr>
        <p:spPr>
          <a:xfrm>
            <a:off x="6263640" y="2286000"/>
            <a:ext cx="5349240" cy="1417320"/>
          </a:xfrm>
          <a:prstGeom prst="roundRect">
            <a:avLst>
              <a:gd name="adj" fmla="val 6452"/>
            </a:avLst>
          </a:prstGeom>
          <a:solidFill>
            <a:srgbClr val="1E2554"/>
          </a:solidFill>
          <a:ln w="12700">
            <a:solidFill>
              <a:srgbClr val="343C74"/>
            </a:solidFill>
            <a:prstDash val="solid"/>
          </a:ln>
        </p:spPr>
      </p:sp>
      <p:sp>
        <p:nvSpPr>
          <p:cNvPr id="8" name="Text 6"/>
          <p:cNvSpPr/>
          <p:nvPr/>
        </p:nvSpPr>
        <p:spPr>
          <a:xfrm>
            <a:off x="6537960" y="2468880"/>
            <a:ext cx="4800600" cy="411480"/>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Plan = Markdown you edit</a:t>
            </a:r>
            <a:endParaRPr lang="en-US" sz="1800" dirty="0"/>
          </a:p>
        </p:txBody>
      </p:sp>
      <p:sp>
        <p:nvSpPr>
          <p:cNvPr id="9" name="Text 7"/>
          <p:cNvSpPr/>
          <p:nvPr/>
        </p:nvSpPr>
        <p:spPr>
          <a:xfrm>
            <a:off x="6537960" y="2907792"/>
            <a:ext cx="4800600" cy="685800"/>
          </a:xfrm>
          <a:prstGeom prst="rect">
            <a:avLst/>
          </a:prstGeom>
          <a:noFill/>
          <a:ln/>
        </p:spPr>
        <p:txBody>
          <a:bodyPr wrap="square" lIns="0" tIns="0" rIns="0" bIns="0" rtlCol="0" anchor="ctr"/>
          <a:lstStyle/>
          <a:p>
            <a:pPr indent="0" marL="0">
              <a:lnSpc>
                <a:spcPct val="105000"/>
              </a:lnSpc>
              <a:buNone/>
            </a:pPr>
            <a:r>
              <a:rPr lang="en-US" sz="1400" dirty="0">
                <a:solidFill>
                  <a:srgbClr val="C7CDEC"/>
                </a:solidFill>
                <a:latin typeface="Calibri" pitchFamily="34" charset="0"/>
                <a:ea typeface="Calibri" pitchFamily="34" charset="-122"/>
                <a:cs typeface="Calibri" pitchFamily="34" charset="-120"/>
              </a:rPr>
              <a:t>The agent's plan appears as an editable artifact. You review and adjust it before it acts.</a:t>
            </a:r>
            <a:endParaRPr lang="en-US" sz="1400" dirty="0"/>
          </a:p>
        </p:txBody>
      </p:sp>
      <p:sp>
        <p:nvSpPr>
          <p:cNvPr id="10" name="Shape 8"/>
          <p:cNvSpPr/>
          <p:nvPr/>
        </p:nvSpPr>
        <p:spPr>
          <a:xfrm>
            <a:off x="548640" y="3977640"/>
            <a:ext cx="5349240" cy="1417320"/>
          </a:xfrm>
          <a:prstGeom prst="roundRect">
            <a:avLst>
              <a:gd name="adj" fmla="val 6452"/>
            </a:avLst>
          </a:prstGeom>
          <a:solidFill>
            <a:srgbClr val="1E2554"/>
          </a:solidFill>
          <a:ln w="12700">
            <a:solidFill>
              <a:srgbClr val="343C74"/>
            </a:solidFill>
            <a:prstDash val="solid"/>
          </a:ln>
        </p:spPr>
      </p:sp>
      <p:sp>
        <p:nvSpPr>
          <p:cNvPr id="11" name="Text 9"/>
          <p:cNvSpPr/>
          <p:nvPr/>
        </p:nvSpPr>
        <p:spPr>
          <a:xfrm>
            <a:off x="822960" y="4160520"/>
            <a:ext cx="4800600" cy="411480"/>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Changes &amp; artifacts are visible</a:t>
            </a:r>
            <a:endParaRPr lang="en-US" sz="1800" dirty="0"/>
          </a:p>
        </p:txBody>
      </p:sp>
      <p:sp>
        <p:nvSpPr>
          <p:cNvPr id="12" name="Text 10"/>
          <p:cNvSpPr/>
          <p:nvPr/>
        </p:nvSpPr>
        <p:spPr>
          <a:xfrm>
            <a:off x="822960" y="4599432"/>
            <a:ext cx="4800600" cy="685800"/>
          </a:xfrm>
          <a:prstGeom prst="rect">
            <a:avLst/>
          </a:prstGeom>
          <a:noFill/>
          <a:ln/>
        </p:spPr>
        <p:txBody>
          <a:bodyPr wrap="square" lIns="0" tIns="0" rIns="0" bIns="0" rtlCol="0" anchor="ctr"/>
          <a:lstStyle/>
          <a:p>
            <a:pPr indent="0" marL="0">
              <a:lnSpc>
                <a:spcPct val="105000"/>
              </a:lnSpc>
              <a:buNone/>
            </a:pPr>
            <a:r>
              <a:rPr lang="en-US" sz="1400" dirty="0">
                <a:solidFill>
                  <a:srgbClr val="C7CDEC"/>
                </a:solidFill>
                <a:latin typeface="Calibri" pitchFamily="34" charset="0"/>
                <a:ea typeface="Calibri" pitchFamily="34" charset="-122"/>
                <a:cs typeface="Calibri" pitchFamily="34" charset="-120"/>
              </a:rPr>
              <a:t>The editor shows exactly what the agent changed — “verify the diff” is a real moment.</a:t>
            </a:r>
            <a:endParaRPr lang="en-US" sz="1400" dirty="0"/>
          </a:p>
        </p:txBody>
      </p:sp>
      <p:sp>
        <p:nvSpPr>
          <p:cNvPr id="13" name="Shape 11"/>
          <p:cNvSpPr/>
          <p:nvPr/>
        </p:nvSpPr>
        <p:spPr>
          <a:xfrm>
            <a:off x="6263640" y="3977640"/>
            <a:ext cx="5349240" cy="1417320"/>
          </a:xfrm>
          <a:prstGeom prst="roundRect">
            <a:avLst>
              <a:gd name="adj" fmla="val 6452"/>
            </a:avLst>
          </a:prstGeom>
          <a:solidFill>
            <a:srgbClr val="1E2554"/>
          </a:solidFill>
          <a:ln w="12700">
            <a:solidFill>
              <a:srgbClr val="343C74"/>
            </a:solidFill>
            <a:prstDash val="solid"/>
          </a:ln>
        </p:spPr>
      </p:sp>
      <p:sp>
        <p:nvSpPr>
          <p:cNvPr id="14" name="Text 12"/>
          <p:cNvSpPr/>
          <p:nvPr/>
        </p:nvSpPr>
        <p:spPr>
          <a:xfrm>
            <a:off x="6537960" y="4160520"/>
            <a:ext cx="4800600" cy="411480"/>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Your model, Apple's skills</a:t>
            </a:r>
            <a:endParaRPr lang="en-US" sz="1800" dirty="0"/>
          </a:p>
        </p:txBody>
      </p:sp>
      <p:sp>
        <p:nvSpPr>
          <p:cNvPr id="15" name="Text 13"/>
          <p:cNvSpPr/>
          <p:nvPr/>
        </p:nvSpPr>
        <p:spPr>
          <a:xfrm>
            <a:off x="6537960" y="4599432"/>
            <a:ext cx="4800600" cy="685800"/>
          </a:xfrm>
          <a:prstGeom prst="rect">
            <a:avLst/>
          </a:prstGeom>
          <a:noFill/>
          <a:ln/>
        </p:spPr>
        <p:txBody>
          <a:bodyPr wrap="square" lIns="0" tIns="0" rIns="0" bIns="0" rtlCol="0" anchor="ctr"/>
          <a:lstStyle/>
          <a:p>
            <a:pPr indent="0" marL="0">
              <a:lnSpc>
                <a:spcPct val="105000"/>
              </a:lnSpc>
              <a:buNone/>
            </a:pPr>
            <a:r>
              <a:rPr lang="en-US" sz="1400" dirty="0">
                <a:solidFill>
                  <a:srgbClr val="C7CDEC"/>
                </a:solidFill>
                <a:latin typeface="Calibri" pitchFamily="34" charset="0"/>
                <a:ea typeface="Calibri" pitchFamily="34" charset="-122"/>
                <a:cs typeface="Calibri" pitchFamily="34" charset="-120"/>
              </a:rPr>
              <a:t>Anthropic / OpenAI / Google, plus Apple's bundled SwiftUI agent skills.</a:t>
            </a:r>
            <a:endParaRPr lang="en-US" sz="1400" dirty="0"/>
          </a:p>
        </p:txBody>
      </p:sp>
      <p:sp>
        <p:nvSpPr>
          <p:cNvPr id="16" name="Text 14"/>
          <p:cNvSpPr/>
          <p:nvPr/>
        </p:nvSpPr>
        <p:spPr>
          <a:xfrm>
            <a:off x="548640" y="5989320"/>
            <a:ext cx="10972800" cy="457200"/>
          </a:xfrm>
          <a:prstGeom prst="rect">
            <a:avLst/>
          </a:prstGeom>
          <a:noFill/>
          <a:ln/>
        </p:spPr>
        <p:txBody>
          <a:bodyPr wrap="square" lIns="0" tIns="0" rIns="0" bIns="0" rtlCol="0" anchor="ctr"/>
          <a:lstStyle/>
          <a:p>
            <a:pPr indent="0" marL="0">
              <a:buNone/>
            </a:pPr>
            <a:r>
              <a:rPr lang="en-US" sz="1700" i="1" dirty="0">
                <a:solidFill>
                  <a:srgbClr val="F7A32B"/>
                </a:solidFill>
                <a:latin typeface="Calibri" pitchFamily="34" charset="0"/>
                <a:ea typeface="Calibri" pitchFamily="34" charset="-122"/>
                <a:cs typeface="Calibri" pitchFamily="34" charset="-120"/>
              </a:rPr>
              <a:t>“Review the spec, not the code” — now it's how the IDE works.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THE LIVE DEMO</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Five prompts, one running app</a:t>
            </a:r>
            <a:endParaRPr lang="en-US" sz="3400" dirty="0"/>
          </a:p>
        </p:txBody>
      </p:sp>
      <p:sp>
        <p:nvSpPr>
          <p:cNvPr id="4" name="Shape 2"/>
          <p:cNvSpPr/>
          <p:nvPr/>
        </p:nvSpPr>
        <p:spPr>
          <a:xfrm>
            <a:off x="548640" y="2011680"/>
            <a:ext cx="1993392" cy="3108960"/>
          </a:xfrm>
          <a:prstGeom prst="roundRect">
            <a:avLst>
              <a:gd name="adj" fmla="val 4587"/>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5" name="Shape 3"/>
          <p:cNvSpPr/>
          <p:nvPr/>
        </p:nvSpPr>
        <p:spPr>
          <a:xfrm>
            <a:off x="1316736" y="2286000"/>
            <a:ext cx="457200" cy="45720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6" name="Text 4"/>
          <p:cNvSpPr/>
          <p:nvPr/>
        </p:nvSpPr>
        <p:spPr>
          <a:xfrm>
            <a:off x="1316736"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685800" y="2880360"/>
            <a:ext cx="1719072"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Brief → table</a:t>
            </a:r>
            <a:endParaRPr lang="en-US" sz="1550" dirty="0"/>
          </a:p>
        </p:txBody>
      </p:sp>
      <p:sp>
        <p:nvSpPr>
          <p:cNvPr id="8" name="Text 6"/>
          <p:cNvSpPr/>
          <p:nvPr/>
        </p:nvSpPr>
        <p:spPr>
          <a:xfrm>
            <a:off x="685800" y="3520440"/>
            <a:ext cx="1719072" cy="1463040"/>
          </a:xfrm>
          <a:prstGeom prst="rect">
            <a:avLst/>
          </a:prstGeom>
          <a:noFill/>
          <a:ln/>
        </p:spPr>
        <p:txBody>
          <a:bodyPr wrap="square" lIns="0" tIns="0" rIns="0" bIns="0" rtlCol="0" anchor="ctr"/>
          <a:lstStyle/>
          <a:p>
            <a:pPr algn="ctr" indent="0" marL="0">
              <a:lnSpc>
                <a:spcPct val="105000"/>
              </a:lnSpc>
              <a:buNone/>
            </a:pPr>
            <a:r>
              <a:rPr lang="en-US" sz="1250" dirty="0">
                <a:solidFill>
                  <a:srgbClr val="1C2340"/>
                </a:solidFill>
                <a:latin typeface="Calibri" pitchFamily="34" charset="0"/>
                <a:ea typeface="Calibri" pitchFamily="34" charset="-122"/>
                <a:cs typeface="Calibri" pitchFamily="34" charset="-120"/>
              </a:rPr>
              <a:t>Paste the plain-English brief. Ask for a Parnas table — no Swift yet.</a:t>
            </a:r>
            <a:endParaRPr lang="en-US" sz="1250" dirty="0"/>
          </a:p>
        </p:txBody>
      </p:sp>
      <p:sp>
        <p:nvSpPr>
          <p:cNvPr id="9" name="Shape 7"/>
          <p:cNvSpPr/>
          <p:nvPr/>
        </p:nvSpPr>
        <p:spPr>
          <a:xfrm>
            <a:off x="2816352" y="2011680"/>
            <a:ext cx="1993392" cy="3108960"/>
          </a:xfrm>
          <a:prstGeom prst="roundRect">
            <a:avLst>
              <a:gd name="adj" fmla="val 4587"/>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0" name="Shape 8"/>
          <p:cNvSpPr/>
          <p:nvPr/>
        </p:nvSpPr>
        <p:spPr>
          <a:xfrm>
            <a:off x="3584448" y="2286000"/>
            <a:ext cx="457200" cy="457200"/>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11" name="Text 9"/>
          <p:cNvSpPr/>
          <p:nvPr/>
        </p:nvSpPr>
        <p:spPr>
          <a:xfrm>
            <a:off x="3584448" y="2286000"/>
            <a:ext cx="45720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953512" y="2880360"/>
            <a:ext cx="1719072"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Verify together</a:t>
            </a:r>
            <a:endParaRPr lang="en-US" sz="1550" dirty="0"/>
          </a:p>
        </p:txBody>
      </p:sp>
      <p:sp>
        <p:nvSpPr>
          <p:cNvPr id="13" name="Text 11"/>
          <p:cNvSpPr/>
          <p:nvPr/>
        </p:nvSpPr>
        <p:spPr>
          <a:xfrm>
            <a:off x="2953512" y="3520440"/>
            <a:ext cx="1719072" cy="1463040"/>
          </a:xfrm>
          <a:prstGeom prst="rect">
            <a:avLst/>
          </a:prstGeom>
          <a:noFill/>
          <a:ln/>
        </p:spPr>
        <p:txBody>
          <a:bodyPr wrap="square" lIns="0" tIns="0" rIns="0" bIns="0" rtlCol="0" anchor="ctr"/>
          <a:lstStyle/>
          <a:p>
            <a:pPr algn="ctr" indent="0" marL="0">
              <a:lnSpc>
                <a:spcPct val="105000"/>
              </a:lnSpc>
              <a:buNone/>
            </a:pPr>
            <a:r>
              <a:rPr lang="en-US" sz="1250" dirty="0">
                <a:solidFill>
                  <a:srgbClr val="1C2340"/>
                </a:solidFill>
                <a:latin typeface="Calibri" pitchFamily="34" charset="0"/>
                <a:ea typeface="Calibri" pitchFamily="34" charset="-122"/>
                <a:cs typeface="Calibri" pitchFamily="34" charset="-120"/>
              </a:rPr>
              <a:t>Completeness matrix + disjointness. Fix anything missing.</a:t>
            </a:r>
            <a:endParaRPr lang="en-US" sz="1250" dirty="0"/>
          </a:p>
        </p:txBody>
      </p:sp>
      <p:sp>
        <p:nvSpPr>
          <p:cNvPr id="14" name="Shape 12"/>
          <p:cNvSpPr/>
          <p:nvPr/>
        </p:nvSpPr>
        <p:spPr>
          <a:xfrm>
            <a:off x="5084064" y="2011680"/>
            <a:ext cx="1993392" cy="3108960"/>
          </a:xfrm>
          <a:prstGeom prst="roundRect">
            <a:avLst>
              <a:gd name="adj" fmla="val 4587"/>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5" name="Shape 13"/>
          <p:cNvSpPr/>
          <p:nvPr/>
        </p:nvSpPr>
        <p:spPr>
          <a:xfrm>
            <a:off x="5852160" y="2286000"/>
            <a:ext cx="457200" cy="45720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16" name="Text 14"/>
          <p:cNvSpPr/>
          <p:nvPr/>
        </p:nvSpPr>
        <p:spPr>
          <a:xfrm>
            <a:off x="585216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5221224" y="2880360"/>
            <a:ext cx="1719072"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Generate the model</a:t>
            </a:r>
            <a:endParaRPr lang="en-US" sz="1550" dirty="0"/>
          </a:p>
        </p:txBody>
      </p:sp>
      <p:sp>
        <p:nvSpPr>
          <p:cNvPr id="18" name="Text 16"/>
          <p:cNvSpPr/>
          <p:nvPr/>
        </p:nvSpPr>
        <p:spPr>
          <a:xfrm>
            <a:off x="5221224" y="3520440"/>
            <a:ext cx="1719072" cy="1463040"/>
          </a:xfrm>
          <a:prstGeom prst="rect">
            <a:avLst/>
          </a:prstGeom>
          <a:noFill/>
          <a:ln/>
        </p:spPr>
        <p:txBody>
          <a:bodyPr wrap="square" lIns="0" tIns="0" rIns="0" bIns="0" rtlCol="0" anchor="ctr"/>
          <a:lstStyle/>
          <a:p>
            <a:pPr algn="ctr" indent="0" marL="0">
              <a:lnSpc>
                <a:spcPct val="105000"/>
              </a:lnSpc>
              <a:buNone/>
            </a:pPr>
            <a:r>
              <a:rPr lang="en-US" sz="1250" dirty="0">
                <a:solidFill>
                  <a:srgbClr val="1C2340"/>
                </a:solidFill>
                <a:latin typeface="Calibri" pitchFamily="34" charset="0"/>
                <a:ea typeface="Calibri" pitchFamily="34" charset="-122"/>
                <a:cs typeface="Calibri" pitchFamily="34" charset="-120"/>
              </a:rPr>
              <a:t>One switch case per row. Exhaustive, no default.</a:t>
            </a:r>
            <a:endParaRPr lang="en-US" sz="1250" dirty="0"/>
          </a:p>
        </p:txBody>
      </p:sp>
      <p:sp>
        <p:nvSpPr>
          <p:cNvPr id="19" name="Shape 17"/>
          <p:cNvSpPr/>
          <p:nvPr/>
        </p:nvSpPr>
        <p:spPr>
          <a:xfrm>
            <a:off x="7351776" y="2011680"/>
            <a:ext cx="1993392" cy="3108960"/>
          </a:xfrm>
          <a:prstGeom prst="roundRect">
            <a:avLst>
              <a:gd name="adj" fmla="val 4587"/>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20" name="Shape 18"/>
          <p:cNvSpPr/>
          <p:nvPr/>
        </p:nvSpPr>
        <p:spPr>
          <a:xfrm>
            <a:off x="8119872" y="2286000"/>
            <a:ext cx="457200" cy="45720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21" name="Text 19"/>
          <p:cNvSpPr/>
          <p:nvPr/>
        </p:nvSpPr>
        <p:spPr>
          <a:xfrm>
            <a:off x="8119872"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488936" y="2880360"/>
            <a:ext cx="1719072"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Generate the app</a:t>
            </a:r>
            <a:endParaRPr lang="en-US" sz="1550" dirty="0"/>
          </a:p>
        </p:txBody>
      </p:sp>
      <p:sp>
        <p:nvSpPr>
          <p:cNvPr id="23" name="Text 21"/>
          <p:cNvSpPr/>
          <p:nvPr/>
        </p:nvSpPr>
        <p:spPr>
          <a:xfrm>
            <a:off x="7488936" y="3520440"/>
            <a:ext cx="1719072" cy="1463040"/>
          </a:xfrm>
          <a:prstGeom prst="rect">
            <a:avLst/>
          </a:prstGeom>
          <a:noFill/>
          <a:ln/>
        </p:spPr>
        <p:txBody>
          <a:bodyPr wrap="square" lIns="0" tIns="0" rIns="0" bIns="0" rtlCol="0" anchor="ctr"/>
          <a:lstStyle/>
          <a:p>
            <a:pPr algn="ctr" indent="0" marL="0">
              <a:lnSpc>
                <a:spcPct val="105000"/>
              </a:lnSpc>
              <a:buNone/>
            </a:pPr>
            <a:r>
              <a:rPr lang="en-US" sz="1250" dirty="0">
                <a:solidFill>
                  <a:srgbClr val="1C2340"/>
                </a:solidFill>
                <a:latin typeface="Calibri" pitchFamily="34" charset="0"/>
                <a:ea typeface="Calibri" pitchFamily="34" charset="-122"/>
                <a:cs typeface="Calibri" pitchFamily="34" charset="-120"/>
              </a:rPr>
              <a:t>SwiftUI screen sends events; state only changes via transition().</a:t>
            </a:r>
            <a:endParaRPr lang="en-US" sz="1250" dirty="0"/>
          </a:p>
        </p:txBody>
      </p:sp>
      <p:sp>
        <p:nvSpPr>
          <p:cNvPr id="24" name="Shape 22"/>
          <p:cNvSpPr/>
          <p:nvPr/>
        </p:nvSpPr>
        <p:spPr>
          <a:xfrm>
            <a:off x="9619488" y="2011680"/>
            <a:ext cx="1993392" cy="3108960"/>
          </a:xfrm>
          <a:prstGeom prst="roundRect">
            <a:avLst>
              <a:gd name="adj" fmla="val 4587"/>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25" name="Shape 23"/>
          <p:cNvSpPr/>
          <p:nvPr/>
        </p:nvSpPr>
        <p:spPr>
          <a:xfrm>
            <a:off x="10387584" y="2286000"/>
            <a:ext cx="457200" cy="45720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26" name="Text 24"/>
          <p:cNvSpPr/>
          <p:nvPr/>
        </p:nvSpPr>
        <p:spPr>
          <a:xfrm>
            <a:off x="10387584"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9756648" y="2880360"/>
            <a:ext cx="1719072"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Run it</a:t>
            </a:r>
            <a:endParaRPr lang="en-US" sz="1550" dirty="0"/>
          </a:p>
        </p:txBody>
      </p:sp>
      <p:sp>
        <p:nvSpPr>
          <p:cNvPr id="28" name="Text 26"/>
          <p:cNvSpPr/>
          <p:nvPr/>
        </p:nvSpPr>
        <p:spPr>
          <a:xfrm>
            <a:off x="9756648" y="3520440"/>
            <a:ext cx="1719072" cy="1463040"/>
          </a:xfrm>
          <a:prstGeom prst="rect">
            <a:avLst/>
          </a:prstGeom>
          <a:noFill/>
          <a:ln/>
        </p:spPr>
        <p:txBody>
          <a:bodyPr wrap="square" lIns="0" tIns="0" rIns="0" bIns="0" rtlCol="0" anchor="ctr"/>
          <a:lstStyle/>
          <a:p>
            <a:pPr algn="ctr" indent="0" marL="0">
              <a:lnSpc>
                <a:spcPct val="105000"/>
              </a:lnSpc>
              <a:buNone/>
            </a:pPr>
            <a:r>
              <a:rPr lang="en-US" sz="1250" dirty="0">
                <a:solidFill>
                  <a:srgbClr val="1C2340"/>
                </a:solidFill>
                <a:latin typeface="Calibri" pitchFamily="34" charset="0"/>
                <a:ea typeface="Calibri" pitchFamily="34" charset="-122"/>
                <a:cs typeface="Calibri" pitchFamily="34" charset="-120"/>
              </a:rPr>
              <a:t>Coins, sold-out, dispense + change, cancel + refund — live in the simulator.</a:t>
            </a:r>
            <a:endParaRPr lang="en-US" sz="1250" dirty="0"/>
          </a:p>
        </p:txBody>
      </p:sp>
      <p:sp>
        <p:nvSpPr>
          <p:cNvPr id="29" name="Text 27"/>
          <p:cNvSpPr/>
          <p:nvPr/>
        </p:nvSpPr>
        <p:spPr>
          <a:xfrm>
            <a:off x="548640" y="5349240"/>
            <a:ext cx="1106424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Stage insurance: </a:t>
            </a:r>
            <a:pPr indent="0" marL="0">
              <a:buNone/>
            </a:pPr>
            <a:r>
              <a:rPr lang="en-US" sz="1400" dirty="0">
                <a:solidFill>
                  <a:srgbClr val="5C6690"/>
                </a:solidFill>
                <a:latin typeface="Calibri" pitchFamily="34" charset="0"/>
                <a:ea typeface="Calibri" pitchFamily="34" charset="-122"/>
                <a:cs typeface="Calibri" pitchFamily="34" charset="-120"/>
              </a:rPr>
              <a:t>a working reference implementation is in the repo — if the agent stalls, paste it and keep the story moving.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WHY IT HOLDS TOGETHER</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One row → one case → the compiler enforces it</a:t>
            </a:r>
            <a:endParaRPr lang="en-US" sz="3000" dirty="0"/>
          </a:p>
        </p:txBody>
      </p:sp>
      <p:sp>
        <p:nvSpPr>
          <p:cNvPr id="4" name="Shape 2"/>
          <p:cNvSpPr/>
          <p:nvPr/>
        </p:nvSpPr>
        <p:spPr>
          <a:xfrm>
            <a:off x="548640" y="1828800"/>
            <a:ext cx="6766560" cy="3931920"/>
          </a:xfrm>
          <a:prstGeom prst="roundRect">
            <a:avLst>
              <a:gd name="adj" fmla="val 2326"/>
            </a:avLst>
          </a:prstGeom>
          <a:solidFill>
            <a:srgbClr val="12183A"/>
          </a:solidFill>
          <a:ln/>
          <a:effectLst>
            <a:outerShdw sx="100000" sy="100000" kx="0" ky="0" algn="bl" rotWithShape="0" blurRad="101600" dist="38100" dir="5400000">
              <a:srgbClr val="9AA3C8">
                <a:alpha val="35000"/>
              </a:srgbClr>
            </a:outerShdw>
          </a:effectLst>
        </p:spPr>
      </p:sp>
      <p:sp>
        <p:nvSpPr>
          <p:cNvPr id="5" name="Text 3"/>
          <p:cNvSpPr/>
          <p:nvPr/>
        </p:nvSpPr>
        <p:spPr>
          <a:xfrm>
            <a:off x="868680" y="2057400"/>
            <a:ext cx="6309360" cy="3474720"/>
          </a:xfrm>
          <a:prstGeom prst="rect">
            <a:avLst/>
          </a:prstGeom>
          <a:noFill/>
          <a:ln/>
        </p:spPr>
        <p:txBody>
          <a:bodyPr wrap="square" lIns="0" tIns="0" rIns="0" bIns="0" rtlCol="0" anchor="ctr"/>
          <a:lstStyle/>
          <a:p>
            <a:pPr indent="0" marL="0">
              <a:lnSpc>
                <a:spcPct val="112000"/>
              </a:lnSpc>
              <a:buNone/>
            </a:pPr>
            <a:r>
              <a:rPr lang="en-US" sz="1450" dirty="0">
                <a:solidFill>
                  <a:srgbClr val="8FB4FF"/>
                </a:solidFill>
                <a:latin typeface="Courier New" pitchFamily="34" charset="0"/>
                <a:ea typeface="Courier New" pitchFamily="34" charset="-122"/>
                <a:cs typeface="Courier New" pitchFamily="34" charset="-120"/>
              </a:rPr>
              <a:t>func transition(from: State, on: Event,
</a:t>
            </a:r>
            <a:pPr indent="0" marL="0">
              <a:lnSpc>
                <a:spcPct val="112000"/>
              </a:lnSpc>
              <a:buNone/>
            </a:pPr>
            <a:r>
              <a:rPr lang="en-US" sz="1450" dirty="0">
                <a:solidFill>
                  <a:srgbClr val="8FB4FF"/>
                </a:solidFill>
                <a:latin typeface="Courier New" pitchFamily="34" charset="0"/>
                <a:ea typeface="Courier New" pitchFamily="34" charset="-122"/>
                <a:cs typeface="Courier New" pitchFamily="34" charset="-120"/>
              </a:rPr>
              <a:t>                stock: Stock) -&gt; Result {
</a:t>
            </a:r>
            <a:pPr indent="0" marL="0">
              <a:lnSpc>
                <a:spcPct val="112000"/>
              </a:lnSpc>
              <a:buNone/>
            </a:pPr>
            <a:r>
              <a:rPr lang="en-US" sz="1450" dirty="0">
                <a:solidFill>
                  <a:srgbClr val="E6E9F5"/>
                </a:solidFill>
                <a:latin typeface="Courier New" pitchFamily="34" charset="0"/>
                <a:ea typeface="Courier New" pitchFamily="34" charset="-122"/>
                <a:cs typeface="Courier New" pitchFamily="34" charset="-120"/>
              </a:rPr>
              <a:t>  switch (state, event) {
</a:t>
            </a:r>
            <a:pPr indent="0" marL="0">
              <a:lnSpc>
                <a:spcPct val="112000"/>
              </a:lnSpc>
              <a:buNone/>
            </a:pPr>
            <a:r>
              <a:rPr lang="en-US" sz="1450" dirty="0">
                <a:solidFill>
                  <a:srgbClr val="6FD08C"/>
                </a:solidFill>
                <a:latin typeface="Courier New" pitchFamily="34" charset="0"/>
                <a:ea typeface="Courier New" pitchFamily="34" charset="-122"/>
                <a:cs typeface="Courier New" pitchFamily="34" charset="-120"/>
              </a:rPr>
              <a:t>  // Row 5
</a:t>
            </a:r>
            <a:pPr indent="0" marL="0">
              <a:lnSpc>
                <a:spcPct val="112000"/>
              </a:lnSpc>
              <a:buNone/>
            </a:pPr>
            <a:r>
              <a:rPr lang="en-US" sz="1450" dirty="0">
                <a:solidFill>
                  <a:srgbClr val="E6E9F5"/>
                </a:solidFill>
                <a:latin typeface="Courier New" pitchFamily="34" charset="0"/>
                <a:ea typeface="Courier New" pitchFamily="34" charset="-122"/>
                <a:cs typeface="Courier New" pitchFamily="34" charset="-120"/>
              </a:rPr>
              <a:t>  case (.collecting(let b), .select(let p)):
</a:t>
            </a:r>
            <a:pPr indent="0" marL="0">
              <a:lnSpc>
                <a:spcPct val="112000"/>
              </a:lnSpc>
              <a:buNone/>
            </a:pPr>
            <a:r>
              <a:rPr lang="en-US" sz="1450" dirty="0">
                <a:solidFill>
                  <a:srgbClr val="9AA3C8"/>
                </a:solidFill>
                <a:latin typeface="Courier New" pitchFamily="34" charset="0"/>
                <a:ea typeface="Courier New" pitchFamily="34" charset="-122"/>
                <a:cs typeface="Courier New" pitchFamily="34" charset="-120"/>
              </a:rPr>
              <a:t>    // guards split 5 / 6 / 7 …
</a:t>
            </a:r>
            <a:pPr indent="0" marL="0">
              <a:lnSpc>
                <a:spcPct val="112000"/>
              </a:lnSpc>
              <a:buNone/>
            </a:pPr>
            <a:r>
              <a:rPr lang="en-US" sz="1450" dirty="0">
                <a:solidFill>
                  <a:srgbClr val="F7A32B"/>
                </a:solidFill>
                <a:latin typeface="Courier New" pitchFamily="34" charset="0"/>
                <a:ea typeface="Courier New" pitchFamily="34" charset="-122"/>
                <a:cs typeface="Courier New" pitchFamily="34" charset="-120"/>
              </a:rPr>
              <a:t>  // no default — every row is named
</a:t>
            </a:r>
            <a:pPr indent="0" marL="0">
              <a:lnSpc>
                <a:spcPct val="112000"/>
              </a:lnSpc>
              <a:buNone/>
            </a:pPr>
            <a:r>
              <a:rPr lang="en-US" sz="1450" dirty="0">
                <a:solidFill>
                  <a:srgbClr val="E6E9F5"/>
                </a:solidFill>
                <a:latin typeface="Courier New" pitchFamily="34" charset="0"/>
                <a:ea typeface="Courier New" pitchFamily="34" charset="-122"/>
                <a:cs typeface="Courier New" pitchFamily="34" charset="-120"/>
              </a:rPr>
              <a:t>  }
</a:t>
            </a:r>
            <a:pPr indent="0" marL="0">
              <a:lnSpc>
                <a:spcPct val="112000"/>
              </a:lnSpc>
              <a:buNone/>
            </a:pPr>
            <a:r>
              <a:rPr lang="en-US" sz="1450" dirty="0">
                <a:solidFill>
                  <a:srgbClr val="E6E9F5"/>
                </a:solidFill>
                <a:latin typeface="Courier New" pitchFamily="34" charset="0"/>
                <a:ea typeface="Courier New" pitchFamily="34" charset="-122"/>
                <a:cs typeface="Courier New" pitchFamily="34" charset="-120"/>
              </a:rPr>
              <a:t>}</a:t>
            </a:r>
            <a:endParaRPr lang="en-US" sz="1450" dirty="0"/>
          </a:p>
        </p:txBody>
      </p:sp>
      <p:sp>
        <p:nvSpPr>
          <p:cNvPr id="6" name="Shape 4"/>
          <p:cNvSpPr/>
          <p:nvPr/>
        </p:nvSpPr>
        <p:spPr>
          <a:xfrm>
            <a:off x="7589520" y="1965960"/>
            <a:ext cx="365760" cy="36576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7" name="Text 5"/>
          <p:cNvSpPr/>
          <p:nvPr/>
        </p:nvSpPr>
        <p:spPr>
          <a:xfrm>
            <a:off x="7589520" y="19659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8138160" y="1920240"/>
            <a:ext cx="347472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No default case</a:t>
            </a:r>
            <a:endParaRPr lang="en-US" sz="1700" dirty="0"/>
          </a:p>
        </p:txBody>
      </p:sp>
      <p:sp>
        <p:nvSpPr>
          <p:cNvPr id="9" name="Text 7"/>
          <p:cNvSpPr/>
          <p:nvPr/>
        </p:nvSpPr>
        <p:spPr>
          <a:xfrm>
            <a:off x="8138160" y="2331720"/>
            <a:ext cx="3566160" cy="82296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Every table row is an explicit case. Nothing hides in a catch-all.</a:t>
            </a:r>
            <a:endParaRPr lang="en-US" sz="1350" dirty="0"/>
          </a:p>
        </p:txBody>
      </p:sp>
      <p:sp>
        <p:nvSpPr>
          <p:cNvPr id="10" name="Shape 8"/>
          <p:cNvSpPr/>
          <p:nvPr/>
        </p:nvSpPr>
        <p:spPr>
          <a:xfrm>
            <a:off x="7589520" y="3291840"/>
            <a:ext cx="365760" cy="36576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11" name="Text 9"/>
          <p:cNvSpPr/>
          <p:nvPr/>
        </p:nvSpPr>
        <p:spPr>
          <a:xfrm>
            <a:off x="7589520" y="32918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8138160" y="3246120"/>
            <a:ext cx="347472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Delete a case → won't build</a:t>
            </a:r>
            <a:endParaRPr lang="en-US" sz="1700" dirty="0"/>
          </a:p>
        </p:txBody>
      </p:sp>
      <p:sp>
        <p:nvSpPr>
          <p:cNvPr id="13" name="Text 11"/>
          <p:cNvSpPr/>
          <p:nvPr/>
        </p:nvSpPr>
        <p:spPr>
          <a:xfrm>
            <a:off x="8138160" y="3657600"/>
            <a:ext cx="3566160" cy="82296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Swift refuses to compile an incomplete switch. The compiler now enforces the table.</a:t>
            </a:r>
            <a:endParaRPr lang="en-US" sz="1350" dirty="0"/>
          </a:p>
        </p:txBody>
      </p:sp>
      <p:sp>
        <p:nvSpPr>
          <p:cNvPr id="14" name="Shape 12"/>
          <p:cNvSpPr/>
          <p:nvPr/>
        </p:nvSpPr>
        <p:spPr>
          <a:xfrm>
            <a:off x="7589520" y="4617720"/>
            <a:ext cx="365760" cy="365760"/>
          </a:xfrm>
          <a:prstGeom prst="ellipse">
            <a:avLst/>
          </a:prstGeom>
          <a:solidFill>
            <a:srgbClr val="1E2761"/>
          </a:solidFill>
          <a:ln/>
          <a:effectLst>
            <a:outerShdw sx="100000" sy="100000" kx="0" ky="0" algn="bl" rotWithShape="0" blurRad="101600" dist="38100" dir="5400000">
              <a:srgbClr val="9AA3C8">
                <a:alpha val="35000"/>
              </a:srgbClr>
            </a:outerShdw>
          </a:effectLst>
        </p:spPr>
      </p:sp>
      <p:sp>
        <p:nvSpPr>
          <p:cNvPr id="15" name="Text 13"/>
          <p:cNvSpPr/>
          <p:nvPr/>
        </p:nvSpPr>
        <p:spPr>
          <a:xfrm>
            <a:off x="7589520" y="4617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8138160" y="4572000"/>
            <a:ext cx="347472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Change the table → change one case</a:t>
            </a:r>
            <a:endParaRPr lang="en-US" sz="1700" dirty="0"/>
          </a:p>
        </p:txBody>
      </p:sp>
      <p:sp>
        <p:nvSpPr>
          <p:cNvPr id="17" name="Text 15"/>
          <p:cNvSpPr/>
          <p:nvPr/>
        </p:nvSpPr>
        <p:spPr>
          <a:xfrm>
            <a:off x="8138160" y="4983480"/>
            <a:ext cx="3566160" cy="82296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The spec and the code stay in lockstep, row for row.</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937"/>
        </a:solidFill>
      </p:bgPr>
    </p:bg>
    <p:spTree>
      <p:nvGrpSpPr>
        <p:cNvPr id="1" name=""/>
        <p:cNvGrpSpPr/>
        <p:nvPr/>
      </p:nvGrpSpPr>
      <p:grpSpPr>
        <a:xfrm>
          <a:off x="0" y="0"/>
          <a:ext cx="0" cy="0"/>
          <a:chOff x="0" y="0"/>
          <a:chExt cx="0" cy="0"/>
        </a:xfrm>
      </p:grpSpPr>
      <p:sp>
        <p:nvSpPr>
          <p:cNvPr id="2" name="Text 0"/>
          <p:cNvSpPr/>
          <p:nvPr/>
        </p:nvSpPr>
        <p:spPr>
          <a:xfrm>
            <a:off x="548640" y="822960"/>
            <a:ext cx="10058400" cy="365760"/>
          </a:xfrm>
          <a:prstGeom prst="rect">
            <a:avLst/>
          </a:prstGeom>
          <a:noFill/>
          <a:ln/>
        </p:spPr>
        <p:txBody>
          <a:bodyPr wrap="square" lIns="0" tIns="0" rIns="0" bIns="0" rtlCol="0" anchor="ctr"/>
          <a:lstStyle/>
          <a:p>
            <a:pPr indent="0" marL="0">
              <a:buNone/>
            </a:pPr>
            <a:r>
              <a:rPr lang="en-US" sz="1400" b="1" spc="300" kern="0" dirty="0">
                <a:solidFill>
                  <a:srgbClr val="F7A32B"/>
                </a:solidFill>
                <a:latin typeface="Calibri" pitchFamily="34" charset="0"/>
                <a:ea typeface="Calibri" pitchFamily="34" charset="-122"/>
                <a:cs typeface="Calibri" pitchFamily="34" charset="-120"/>
              </a:rPr>
              <a:t>THE PAYOFF</a:t>
            </a:r>
            <a:endParaRPr lang="en-US" sz="1400" dirty="0"/>
          </a:p>
        </p:txBody>
      </p:sp>
      <p:sp>
        <p:nvSpPr>
          <p:cNvPr id="3" name="Text 1"/>
          <p:cNvSpPr/>
          <p:nvPr/>
        </p:nvSpPr>
        <p:spPr>
          <a:xfrm>
            <a:off x="548640" y="1188720"/>
            <a:ext cx="109728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Change a rule — not the code</a:t>
            </a:r>
            <a:endParaRPr lang="en-US" sz="3800" dirty="0"/>
          </a:p>
        </p:txBody>
      </p:sp>
      <p:sp>
        <p:nvSpPr>
          <p:cNvPr id="4" name="Text 2"/>
          <p:cNvSpPr/>
          <p:nvPr/>
        </p:nvSpPr>
        <p:spPr>
          <a:xfrm>
            <a:off x="548640" y="2057400"/>
            <a:ext cx="109728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New requirement: add a 5% convenience fee. I edit the table, not the app.</a:t>
            </a:r>
            <a:endParaRPr lang="en-US" sz="1800" dirty="0"/>
          </a:p>
        </p:txBody>
      </p:sp>
      <p:sp>
        <p:nvSpPr>
          <p:cNvPr id="5" name="Shape 3"/>
          <p:cNvSpPr/>
          <p:nvPr/>
        </p:nvSpPr>
        <p:spPr>
          <a:xfrm>
            <a:off x="754380" y="3108960"/>
            <a:ext cx="1874520" cy="1371600"/>
          </a:xfrm>
          <a:prstGeom prst="roundRect">
            <a:avLst>
              <a:gd name="adj" fmla="val 6667"/>
            </a:avLst>
          </a:prstGeom>
          <a:solidFill>
            <a:srgbClr val="F7A32B"/>
          </a:solidFill>
          <a:ln w="12700">
            <a:solidFill>
              <a:srgbClr val="343C74"/>
            </a:solidFill>
            <a:prstDash val="solid"/>
          </a:ln>
        </p:spPr>
      </p:sp>
      <p:sp>
        <p:nvSpPr>
          <p:cNvPr id="6" name="Text 4"/>
          <p:cNvSpPr/>
          <p:nvPr/>
        </p:nvSpPr>
        <p:spPr>
          <a:xfrm>
            <a:off x="845820" y="3108960"/>
            <a:ext cx="1691640" cy="1371600"/>
          </a:xfrm>
          <a:prstGeom prst="rect">
            <a:avLst/>
          </a:prstGeom>
          <a:noFill/>
          <a:ln/>
        </p:spPr>
        <p:txBody>
          <a:bodyPr wrap="square" lIns="0" tIns="0" rIns="0" bIns="0" rtlCol="0" anchor="ctr"/>
          <a:lstStyle/>
          <a:p>
            <a:pPr algn="ctr" indent="0" marL="0">
              <a:lnSpc>
                <a:spcPct val="95000"/>
              </a:lnSpc>
              <a:buNone/>
            </a:pPr>
            <a:r>
              <a:rPr lang="en-US" sz="1500" b="1" dirty="0">
                <a:solidFill>
                  <a:srgbClr val="1E2761"/>
                </a:solidFill>
                <a:latin typeface="Calibri" pitchFamily="34" charset="0"/>
                <a:ea typeface="Calibri" pitchFamily="34" charset="-122"/>
                <a:cs typeface="Calibri" pitchFamily="34" charset="-120"/>
              </a:rPr>
              <a:t>Edit the</a:t>
            </a:r>
            <a:endParaRPr lang="en-US" sz="1500" dirty="0"/>
          </a:p>
          <a:p>
            <a:pPr algn="ctr" indent="0" marL="0">
              <a:lnSpc>
                <a:spcPct val="95000"/>
              </a:lnSpc>
              <a:buNone/>
            </a:pPr>
            <a:r>
              <a:rPr lang="en-US" sz="1500" b="1" dirty="0">
                <a:solidFill>
                  <a:srgbClr val="1E2761"/>
                </a:solidFill>
                <a:latin typeface="Calibri" pitchFamily="34" charset="0"/>
                <a:ea typeface="Calibri" pitchFamily="34" charset="-122"/>
                <a:cs typeface="Calibri" pitchFamily="34" charset="-120"/>
              </a:rPr>
              <a:t>table</a:t>
            </a:r>
            <a:endParaRPr lang="en-US" sz="1500" dirty="0"/>
          </a:p>
        </p:txBody>
      </p:sp>
      <p:sp>
        <p:nvSpPr>
          <p:cNvPr id="7" name="Text 5"/>
          <p:cNvSpPr/>
          <p:nvPr/>
        </p:nvSpPr>
        <p:spPr>
          <a:xfrm>
            <a:off x="2628900" y="3108960"/>
            <a:ext cx="320040" cy="1371600"/>
          </a:xfrm>
          <a:prstGeom prst="rect">
            <a:avLst/>
          </a:prstGeom>
          <a:noFill/>
          <a:ln/>
        </p:spPr>
        <p:txBody>
          <a:bodyPr wrap="square" lIns="0" tIns="0" rIns="0" bIns="0" rtlCol="0" anchor="ctr"/>
          <a:lstStyle/>
          <a:p>
            <a:pPr algn="ctr" indent="0" marL="0">
              <a:buNone/>
            </a:pPr>
            <a:r>
              <a:rPr lang="en-US" sz="2200" b="1" dirty="0">
                <a:solidFill>
                  <a:srgbClr val="F7A32B"/>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948940" y="3108960"/>
            <a:ext cx="1874520" cy="1371600"/>
          </a:xfrm>
          <a:prstGeom prst="roundRect">
            <a:avLst>
              <a:gd name="adj" fmla="val 6667"/>
            </a:avLst>
          </a:prstGeom>
          <a:solidFill>
            <a:srgbClr val="1E2554"/>
          </a:solidFill>
          <a:ln w="12700">
            <a:solidFill>
              <a:srgbClr val="343C74"/>
            </a:solidFill>
            <a:prstDash val="solid"/>
          </a:ln>
        </p:spPr>
      </p:sp>
      <p:sp>
        <p:nvSpPr>
          <p:cNvPr id="9" name="Text 7"/>
          <p:cNvSpPr/>
          <p:nvPr/>
        </p:nvSpPr>
        <p:spPr>
          <a:xfrm>
            <a:off x="3040380" y="3108960"/>
            <a:ext cx="1691640" cy="1371600"/>
          </a:xfrm>
          <a:prstGeom prst="rect">
            <a:avLst/>
          </a:prstGeom>
          <a:noFill/>
          <a:ln/>
        </p:spPr>
        <p:txBody>
          <a:bodyPr wrap="square" lIns="0" tIns="0" rIns="0" bIns="0" rtlCol="0" anchor="ctr"/>
          <a:lstStyle/>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Row 5 &amp; 6</a:t>
            </a:r>
            <a:endParaRPr lang="en-US" sz="1500" dirty="0"/>
          </a:p>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guards move</a:t>
            </a:r>
            <a:endParaRPr lang="en-US" sz="1500" dirty="0"/>
          </a:p>
        </p:txBody>
      </p:sp>
      <p:sp>
        <p:nvSpPr>
          <p:cNvPr id="10" name="Text 8"/>
          <p:cNvSpPr/>
          <p:nvPr/>
        </p:nvSpPr>
        <p:spPr>
          <a:xfrm>
            <a:off x="4823460" y="3108960"/>
            <a:ext cx="320040" cy="1371600"/>
          </a:xfrm>
          <a:prstGeom prst="rect">
            <a:avLst/>
          </a:prstGeom>
          <a:noFill/>
          <a:ln/>
        </p:spPr>
        <p:txBody>
          <a:bodyPr wrap="square" lIns="0" tIns="0" rIns="0" bIns="0" rtlCol="0" anchor="ctr"/>
          <a:lstStyle/>
          <a:p>
            <a:pPr algn="ctr" indent="0" marL="0">
              <a:buNone/>
            </a:pPr>
            <a:r>
              <a:rPr lang="en-US" sz="2200" b="1" dirty="0">
                <a:solidFill>
                  <a:srgbClr val="F7A32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143500" y="3108960"/>
            <a:ext cx="1874520" cy="1371600"/>
          </a:xfrm>
          <a:prstGeom prst="roundRect">
            <a:avLst>
              <a:gd name="adj" fmla="val 6667"/>
            </a:avLst>
          </a:prstGeom>
          <a:solidFill>
            <a:srgbClr val="1E2554"/>
          </a:solidFill>
          <a:ln w="12700">
            <a:solidFill>
              <a:srgbClr val="343C74"/>
            </a:solidFill>
            <a:prstDash val="solid"/>
          </a:ln>
        </p:spPr>
      </p:sp>
      <p:sp>
        <p:nvSpPr>
          <p:cNvPr id="12" name="Text 10"/>
          <p:cNvSpPr/>
          <p:nvPr/>
        </p:nvSpPr>
        <p:spPr>
          <a:xfrm>
            <a:off x="5234940" y="3108960"/>
            <a:ext cx="1691640" cy="1371600"/>
          </a:xfrm>
          <a:prstGeom prst="rect">
            <a:avLst/>
          </a:prstGeom>
          <a:noFill/>
          <a:ln/>
        </p:spPr>
        <p:txBody>
          <a:bodyPr wrap="square" lIns="0" tIns="0" rIns="0" bIns="0" rtlCol="0" anchor="ctr"/>
          <a:lstStyle/>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Agent updates</a:t>
            </a:r>
            <a:endParaRPr lang="en-US" sz="1500" dirty="0"/>
          </a:p>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transition()</a:t>
            </a:r>
            <a:endParaRPr lang="en-US" sz="1500" dirty="0"/>
          </a:p>
        </p:txBody>
      </p:sp>
      <p:sp>
        <p:nvSpPr>
          <p:cNvPr id="13" name="Text 11"/>
          <p:cNvSpPr/>
          <p:nvPr/>
        </p:nvSpPr>
        <p:spPr>
          <a:xfrm>
            <a:off x="7018020" y="3108960"/>
            <a:ext cx="320040" cy="1371600"/>
          </a:xfrm>
          <a:prstGeom prst="rect">
            <a:avLst/>
          </a:prstGeom>
          <a:noFill/>
          <a:ln/>
        </p:spPr>
        <p:txBody>
          <a:bodyPr wrap="square" lIns="0" tIns="0" rIns="0" bIns="0" rtlCol="0" anchor="ctr"/>
          <a:lstStyle/>
          <a:p>
            <a:pPr algn="ctr" indent="0" marL="0">
              <a:buNone/>
            </a:pPr>
            <a:r>
              <a:rPr lang="en-US" sz="2200" b="1" dirty="0">
                <a:solidFill>
                  <a:srgbClr val="F7A32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338060" y="3108960"/>
            <a:ext cx="1874520" cy="1371600"/>
          </a:xfrm>
          <a:prstGeom prst="roundRect">
            <a:avLst>
              <a:gd name="adj" fmla="val 6667"/>
            </a:avLst>
          </a:prstGeom>
          <a:solidFill>
            <a:srgbClr val="1E2554"/>
          </a:solidFill>
          <a:ln w="12700">
            <a:solidFill>
              <a:srgbClr val="343C74"/>
            </a:solidFill>
            <a:prstDash val="solid"/>
          </a:ln>
        </p:spPr>
      </p:sp>
      <p:sp>
        <p:nvSpPr>
          <p:cNvPr id="15" name="Text 13"/>
          <p:cNvSpPr/>
          <p:nvPr/>
        </p:nvSpPr>
        <p:spPr>
          <a:xfrm>
            <a:off x="7429500" y="3108960"/>
            <a:ext cx="1691640" cy="1371600"/>
          </a:xfrm>
          <a:prstGeom prst="rect">
            <a:avLst/>
          </a:prstGeom>
          <a:noFill/>
          <a:ln/>
        </p:spPr>
        <p:txBody>
          <a:bodyPr wrap="square" lIns="0" tIns="0" rIns="0" bIns="0" rtlCol="0" anchor="ctr"/>
          <a:lstStyle/>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Compiler</a:t>
            </a:r>
            <a:endParaRPr lang="en-US" sz="1500" dirty="0"/>
          </a:p>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keeps us honest</a:t>
            </a:r>
            <a:endParaRPr lang="en-US" sz="1500" dirty="0"/>
          </a:p>
        </p:txBody>
      </p:sp>
      <p:sp>
        <p:nvSpPr>
          <p:cNvPr id="16" name="Text 14"/>
          <p:cNvSpPr/>
          <p:nvPr/>
        </p:nvSpPr>
        <p:spPr>
          <a:xfrm>
            <a:off x="9212580" y="3108960"/>
            <a:ext cx="320040" cy="1371600"/>
          </a:xfrm>
          <a:prstGeom prst="rect">
            <a:avLst/>
          </a:prstGeom>
          <a:noFill/>
          <a:ln/>
        </p:spPr>
        <p:txBody>
          <a:bodyPr wrap="square" lIns="0" tIns="0" rIns="0" bIns="0" rtlCol="0" anchor="ctr"/>
          <a:lstStyle/>
          <a:p>
            <a:pPr algn="ctr" indent="0" marL="0">
              <a:buNone/>
            </a:pPr>
            <a:r>
              <a:rPr lang="en-US" sz="2200" b="1" dirty="0">
                <a:solidFill>
                  <a:srgbClr val="F7A32B"/>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532620" y="3108960"/>
            <a:ext cx="1874520" cy="1371600"/>
          </a:xfrm>
          <a:prstGeom prst="roundRect">
            <a:avLst>
              <a:gd name="adj" fmla="val 6667"/>
            </a:avLst>
          </a:prstGeom>
          <a:solidFill>
            <a:srgbClr val="1E2554"/>
          </a:solidFill>
          <a:ln w="12700">
            <a:solidFill>
              <a:srgbClr val="343C74"/>
            </a:solidFill>
            <a:prstDash val="solid"/>
          </a:ln>
        </p:spPr>
      </p:sp>
      <p:sp>
        <p:nvSpPr>
          <p:cNvPr id="18" name="Text 16"/>
          <p:cNvSpPr/>
          <p:nvPr/>
        </p:nvSpPr>
        <p:spPr>
          <a:xfrm>
            <a:off x="9624060" y="3108960"/>
            <a:ext cx="1691640" cy="1371600"/>
          </a:xfrm>
          <a:prstGeom prst="rect">
            <a:avLst/>
          </a:prstGeom>
          <a:noFill/>
          <a:ln/>
        </p:spPr>
        <p:txBody>
          <a:bodyPr wrap="square" lIns="0" tIns="0" rIns="0" bIns="0" rtlCol="0" anchor="ctr"/>
          <a:lstStyle/>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App just</a:t>
            </a:r>
            <a:endParaRPr lang="en-US" sz="1500" dirty="0"/>
          </a:p>
          <a:p>
            <a:pPr algn="ctr" indent="0" marL="0">
              <a:lnSpc>
                <a:spcPct val="95000"/>
              </a:lnSpc>
              <a:buNone/>
            </a:pPr>
            <a:r>
              <a:rPr lang="en-US" sz="1500" b="1" dirty="0">
                <a:solidFill>
                  <a:srgbClr val="CADCFC"/>
                </a:solidFill>
                <a:latin typeface="Calibri" pitchFamily="34" charset="0"/>
                <a:ea typeface="Calibri" pitchFamily="34" charset="-122"/>
                <a:cs typeface="Calibri" pitchFamily="34" charset="-120"/>
              </a:rPr>
              <a:t>works</a:t>
            </a:r>
            <a:endParaRPr lang="en-US" sz="1500" dirty="0"/>
          </a:p>
        </p:txBody>
      </p:sp>
      <p:sp>
        <p:nvSpPr>
          <p:cNvPr id="19" name="Text 17"/>
          <p:cNvSpPr/>
          <p:nvPr/>
        </p:nvSpPr>
        <p:spPr>
          <a:xfrm>
            <a:off x="548640" y="5120640"/>
            <a:ext cx="10972800" cy="548640"/>
          </a:xfrm>
          <a:prstGeom prst="rect">
            <a:avLst/>
          </a:prstGeom>
          <a:noFill/>
          <a:ln/>
        </p:spPr>
        <p:txBody>
          <a:bodyPr wrap="square" lIns="0" tIns="0" rIns="0" bIns="0" rtlCol="0" anchor="ctr"/>
          <a:lstStyle/>
          <a:p>
            <a:pPr indent="0" marL="0">
              <a:buNone/>
            </a:pPr>
            <a:r>
              <a:rPr lang="en-US" sz="1800" i="1" dirty="0">
                <a:solidFill>
                  <a:srgbClr val="F7A32B"/>
                </a:solidFill>
                <a:latin typeface="Calibri" pitchFamily="34" charset="0"/>
                <a:ea typeface="Calibri" pitchFamily="34" charset="-122"/>
                <a:cs typeface="Calibri" pitchFamily="34" charset="-120"/>
              </a:rPr>
              <a:t>The table is the source of truth. Formal methods didn't slow us down — they were the fast path.</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algn="l" indent="0" marL="0">
              <a:buNone/>
            </a:pPr>
            <a:r>
              <a:rPr lang="en-US" sz="1200" b="1" spc="200" kern="0" dirty="0">
                <a:solidFill>
                  <a:srgbClr val="F7A32B"/>
                </a:solidFill>
                <a:latin typeface="Calibri" pitchFamily="34" charset="0"/>
                <a:ea typeface="Calibri" pitchFamily="34" charset="-122"/>
                <a:cs typeface="Calibri" pitchFamily="34" charset="-120"/>
              </a:rPr>
              <a:t>TAKEAWAYS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What to steal for your own work</a:t>
            </a:r>
            <a:endParaRPr lang="en-US" sz="3400" dirty="0"/>
          </a:p>
        </p:txBody>
      </p:sp>
      <p:sp>
        <p:nvSpPr>
          <p:cNvPr id="4" name="Shape 2"/>
          <p:cNvSpPr/>
          <p:nvPr/>
        </p:nvSpPr>
        <p:spPr>
          <a:xfrm>
            <a:off x="548640" y="1783080"/>
            <a:ext cx="5349240" cy="1417320"/>
          </a:xfrm>
          <a:prstGeom prst="roundRect">
            <a:avLst>
              <a:gd name="adj" fmla="val 6452"/>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5" name="Shape 3"/>
          <p:cNvSpPr/>
          <p:nvPr/>
        </p:nvSpPr>
        <p:spPr>
          <a:xfrm>
            <a:off x="822960" y="2057400"/>
            <a:ext cx="384048" cy="384048"/>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6" name="Text 4"/>
          <p:cNvSpPr/>
          <p:nvPr/>
        </p:nvSpPr>
        <p:spPr>
          <a:xfrm>
            <a:off x="822960" y="2057400"/>
            <a:ext cx="384048" cy="384048"/>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984248"/>
            <a:ext cx="4251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Spec first, in a table</a:t>
            </a:r>
            <a:endParaRPr lang="en-US" sz="1800" dirty="0"/>
          </a:p>
        </p:txBody>
      </p:sp>
      <p:sp>
        <p:nvSpPr>
          <p:cNvPr id="8" name="Text 6"/>
          <p:cNvSpPr/>
          <p:nvPr/>
        </p:nvSpPr>
        <p:spPr>
          <a:xfrm>
            <a:off x="1417320" y="2441448"/>
            <a:ext cx="4251960" cy="68580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A Parnas table is reviewable by people who can't read Swift — and precise enough to generate from.</a:t>
            </a:r>
            <a:endParaRPr lang="en-US" sz="1350" dirty="0"/>
          </a:p>
        </p:txBody>
      </p:sp>
      <p:sp>
        <p:nvSpPr>
          <p:cNvPr id="9" name="Shape 7"/>
          <p:cNvSpPr/>
          <p:nvPr/>
        </p:nvSpPr>
        <p:spPr>
          <a:xfrm>
            <a:off x="6263640" y="1783080"/>
            <a:ext cx="5349240" cy="1417320"/>
          </a:xfrm>
          <a:prstGeom prst="roundRect">
            <a:avLst>
              <a:gd name="adj" fmla="val 6452"/>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0" name="Shape 8"/>
          <p:cNvSpPr/>
          <p:nvPr/>
        </p:nvSpPr>
        <p:spPr>
          <a:xfrm>
            <a:off x="6537960" y="2057400"/>
            <a:ext cx="384048" cy="384048"/>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11" name="Text 9"/>
          <p:cNvSpPr/>
          <p:nvPr/>
        </p:nvSpPr>
        <p:spPr>
          <a:xfrm>
            <a:off x="6537960" y="2057400"/>
            <a:ext cx="384048" cy="384048"/>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132320" y="1984248"/>
            <a:ext cx="4251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Make the agent verify</a:t>
            </a:r>
            <a:endParaRPr lang="en-US" sz="1800" dirty="0"/>
          </a:p>
        </p:txBody>
      </p:sp>
      <p:sp>
        <p:nvSpPr>
          <p:cNvPr id="13" name="Text 11"/>
          <p:cNvSpPr/>
          <p:nvPr/>
        </p:nvSpPr>
        <p:spPr>
          <a:xfrm>
            <a:off x="7132320" y="2441448"/>
            <a:ext cx="4251960" cy="68580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Ask for completeness and disjointness explicitly. That's where the AI adds the most value.</a:t>
            </a:r>
            <a:endParaRPr lang="en-US" sz="1350" dirty="0"/>
          </a:p>
        </p:txBody>
      </p:sp>
      <p:sp>
        <p:nvSpPr>
          <p:cNvPr id="14" name="Shape 12"/>
          <p:cNvSpPr/>
          <p:nvPr/>
        </p:nvSpPr>
        <p:spPr>
          <a:xfrm>
            <a:off x="548640" y="3520440"/>
            <a:ext cx="5349240" cy="1417320"/>
          </a:xfrm>
          <a:prstGeom prst="roundRect">
            <a:avLst>
              <a:gd name="adj" fmla="val 6452"/>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15" name="Shape 13"/>
          <p:cNvSpPr/>
          <p:nvPr/>
        </p:nvSpPr>
        <p:spPr>
          <a:xfrm>
            <a:off x="822960" y="3794760"/>
            <a:ext cx="384048" cy="384048"/>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16" name="Text 14"/>
          <p:cNvSpPr/>
          <p:nvPr/>
        </p:nvSpPr>
        <p:spPr>
          <a:xfrm>
            <a:off x="822960" y="3794760"/>
            <a:ext cx="384048" cy="384048"/>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17320" y="3721608"/>
            <a:ext cx="4251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Let the compiler enforce it</a:t>
            </a:r>
            <a:endParaRPr lang="en-US" sz="1800" dirty="0"/>
          </a:p>
        </p:txBody>
      </p:sp>
      <p:sp>
        <p:nvSpPr>
          <p:cNvPr id="18" name="Text 16"/>
          <p:cNvSpPr/>
          <p:nvPr/>
        </p:nvSpPr>
        <p:spPr>
          <a:xfrm>
            <a:off x="1417320" y="4178808"/>
            <a:ext cx="4251960" cy="68580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Exhaustive switch, no default. One row, one case. The build fails if the table isn't honored.</a:t>
            </a:r>
            <a:endParaRPr lang="en-US" sz="1350" dirty="0"/>
          </a:p>
        </p:txBody>
      </p:sp>
      <p:sp>
        <p:nvSpPr>
          <p:cNvPr id="19" name="Shape 17"/>
          <p:cNvSpPr/>
          <p:nvPr/>
        </p:nvSpPr>
        <p:spPr>
          <a:xfrm>
            <a:off x="6263640" y="3520440"/>
            <a:ext cx="5349240" cy="1417320"/>
          </a:xfrm>
          <a:prstGeom prst="roundRect">
            <a:avLst>
              <a:gd name="adj" fmla="val 6452"/>
            </a:avLst>
          </a:prstGeom>
          <a:solidFill>
            <a:srgbClr val="FFFFFF"/>
          </a:solidFill>
          <a:ln w="12700">
            <a:solidFill>
              <a:srgbClr val="E2E6F5"/>
            </a:solidFill>
            <a:prstDash val="solid"/>
          </a:ln>
          <a:effectLst>
            <a:outerShdw sx="100000" sy="100000" kx="0" ky="0" algn="bl" rotWithShape="0" blurRad="101600" dist="38100" dir="5400000">
              <a:srgbClr val="9AA3C8">
                <a:alpha val="35000"/>
              </a:srgbClr>
            </a:outerShdw>
          </a:effectLst>
        </p:spPr>
      </p:sp>
      <p:sp>
        <p:nvSpPr>
          <p:cNvPr id="20" name="Shape 18"/>
          <p:cNvSpPr/>
          <p:nvPr/>
        </p:nvSpPr>
        <p:spPr>
          <a:xfrm>
            <a:off x="6537960" y="3794760"/>
            <a:ext cx="384048" cy="384048"/>
          </a:xfrm>
          <a:prstGeom prst="ellipse">
            <a:avLst/>
          </a:prstGeom>
          <a:solidFill>
            <a:srgbClr val="F7A32B"/>
          </a:solidFill>
          <a:ln/>
          <a:effectLst>
            <a:outerShdw sx="100000" sy="100000" kx="0" ky="0" algn="bl" rotWithShape="0" blurRad="101600" dist="38100" dir="5400000">
              <a:srgbClr val="9AA3C8">
                <a:alpha val="35000"/>
              </a:srgbClr>
            </a:outerShdw>
          </a:effectLst>
        </p:spPr>
      </p:sp>
      <p:sp>
        <p:nvSpPr>
          <p:cNvPr id="21" name="Text 19"/>
          <p:cNvSpPr/>
          <p:nvPr/>
        </p:nvSpPr>
        <p:spPr>
          <a:xfrm>
            <a:off x="6537960" y="3794760"/>
            <a:ext cx="384048" cy="384048"/>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132320" y="3721608"/>
            <a:ext cx="4251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Change the rule, not the code</a:t>
            </a:r>
            <a:endParaRPr lang="en-US" sz="1800" dirty="0"/>
          </a:p>
        </p:txBody>
      </p:sp>
      <p:sp>
        <p:nvSpPr>
          <p:cNvPr id="23" name="Text 21"/>
          <p:cNvSpPr/>
          <p:nvPr/>
        </p:nvSpPr>
        <p:spPr>
          <a:xfrm>
            <a:off x="7132320" y="4178808"/>
            <a:ext cx="4251960" cy="685800"/>
          </a:xfrm>
          <a:prstGeom prst="rect">
            <a:avLst/>
          </a:prstGeom>
          <a:noFill/>
          <a:ln/>
        </p:spPr>
        <p:txBody>
          <a:bodyPr wrap="square" lIns="0" tIns="0" rIns="0" bIns="0" rtlCol="0" anchor="ctr"/>
          <a:lstStyle/>
          <a:p>
            <a:pPr indent="0" marL="0">
              <a:lnSpc>
                <a:spcPct val="105000"/>
              </a:lnSpc>
              <a:buNone/>
            </a:pPr>
            <a:r>
              <a:rPr lang="en-US" sz="1350" dirty="0">
                <a:solidFill>
                  <a:srgbClr val="1C2340"/>
                </a:solidFill>
                <a:latin typeface="Calibri" pitchFamily="34" charset="0"/>
                <a:ea typeface="Calibri" pitchFamily="34" charset="-122"/>
                <a:cs typeface="Calibri" pitchFamily="34" charset="-120"/>
              </a:rPr>
              <a:t>Edit the spec; regenerate; the compiler keeps code and table in lockstep.</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937"/>
        </a:solidFill>
      </p:bgPr>
    </p:bg>
    <p:spTree>
      <p:nvGrpSpPr>
        <p:cNvPr id="1" name=""/>
        <p:cNvGrpSpPr/>
        <p:nvPr/>
      </p:nvGrpSpPr>
      <p:grpSpPr>
        <a:xfrm>
          <a:off x="0" y="0"/>
          <a:ext cx="0" cy="0"/>
          <a:chOff x="0" y="0"/>
          <a:chExt cx="0" cy="0"/>
        </a:xfrm>
      </p:grpSpPr>
      <p:sp>
        <p:nvSpPr>
          <p:cNvPr id="2" name="Text 0"/>
          <p:cNvSpPr/>
          <p:nvPr/>
        </p:nvSpPr>
        <p:spPr>
          <a:xfrm>
            <a:off x="9692640" y="2743200"/>
            <a:ext cx="2194560" cy="2194560"/>
          </a:xfrm>
          <a:prstGeom prst="rect">
            <a:avLst/>
          </a:prstGeom>
          <a:noFill/>
          <a:ln/>
        </p:spPr>
        <p:txBody>
          <a:bodyPr wrap="square" lIns="0" tIns="0" rIns="0" bIns="0" rtlCol="0" anchor="ctr"/>
          <a:lstStyle/>
          <a:p>
            <a:pPr algn="r" indent="0" marL="0">
              <a:buNone/>
            </a:pPr>
            <a:r>
              <a:rPr lang="en-US" sz="15000" b="1" dirty="0">
                <a:solidFill>
                  <a:srgbClr val="232A54"/>
                </a:solidFill>
                <a:latin typeface="Cambria" pitchFamily="34" charset="0"/>
                <a:ea typeface="Cambria" pitchFamily="34" charset="-122"/>
                <a:cs typeface="Cambria" pitchFamily="34" charset="-120"/>
              </a:rPr>
              <a:t>§</a:t>
            </a:r>
            <a:endParaRPr lang="en-US" sz="15000" dirty="0"/>
          </a:p>
        </p:txBody>
      </p:sp>
      <p:sp>
        <p:nvSpPr>
          <p:cNvPr id="3" name="Text 1"/>
          <p:cNvSpPr/>
          <p:nvPr/>
        </p:nvSpPr>
        <p:spPr>
          <a:xfrm>
            <a:off x="548640" y="2011680"/>
            <a:ext cx="10058400" cy="155448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Tables in. Verified specs out.</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Apps that match, by construction.</a:t>
            </a:r>
            <a:endParaRPr lang="en-US" sz="3400" dirty="0"/>
          </a:p>
        </p:txBody>
      </p:sp>
      <p:sp>
        <p:nvSpPr>
          <p:cNvPr id="4" name="Text 2"/>
          <p:cNvSpPr/>
          <p:nvPr/>
        </p:nvSpPr>
        <p:spPr>
          <a:xfrm>
            <a:off x="548640" y="3749040"/>
            <a:ext cx="100584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Level up your software quality — Parnas tables &amp; formal methods, applied.</a:t>
            </a:r>
            <a:endParaRPr lang="en-US" sz="1800" dirty="0"/>
          </a:p>
        </p:txBody>
      </p:sp>
      <p:sp>
        <p:nvSpPr>
          <p:cNvPr id="5" name="Text 3"/>
          <p:cNvSpPr/>
          <p:nvPr/>
        </p:nvSpPr>
        <p:spPr>
          <a:xfrm>
            <a:off x="548640" y="5120640"/>
            <a:ext cx="10058400" cy="457200"/>
          </a:xfrm>
          <a:prstGeom prst="rect">
            <a:avLst/>
          </a:prstGeom>
          <a:noFill/>
          <a:ln/>
        </p:spPr>
        <p:txBody>
          <a:bodyPr wrap="square" lIns="0" tIns="0" rIns="0" bIns="0" rtlCol="0" anchor="ctr"/>
          <a:lstStyle/>
          <a:p>
            <a:pPr indent="0" marL="0">
              <a:buNone/>
            </a:pPr>
            <a:r>
              <a:rPr lang="en-US" sz="1800" dirty="0">
                <a:solidFill>
                  <a:srgbClr val="5C6690"/>
                </a:solidFill>
                <a:latin typeface="Calibri" pitchFamily="34" charset="0"/>
                <a:ea typeface="Calibri" pitchFamily="34" charset="-122"/>
                <a:cs typeface="Calibri" pitchFamily="34" charset="-120"/>
              </a:rPr>
              <a:t>Consulting &amp; training  ·  </a:t>
            </a:r>
            <a:pPr indent="0" marL="0">
              <a:buNone/>
            </a:pPr>
            <a:r>
              <a:rPr lang="en-US" sz="1800" b="1" dirty="0">
                <a:solidFill>
                  <a:srgbClr val="F7A32B"/>
                </a:solidFill>
                <a:latin typeface="Calibri" pitchFamily="34" charset="0"/>
                <a:ea typeface="Calibri" pitchFamily="34" charset="-122"/>
                <a:cs typeface="Calibri" pitchFamily="34" charset="-120"/>
              </a:rPr>
              <a:t>mhp@flixel.com</a:t>
            </a:r>
            <a:endParaRPr lang="en-US" sz="1800" dirty="0"/>
          </a:p>
        </p:txBody>
      </p:sp>
      <p:sp>
        <p:nvSpPr>
          <p:cNvPr id="6" name="Text 4"/>
          <p:cNvSpPr/>
          <p:nvPr/>
        </p:nvSpPr>
        <p:spPr>
          <a:xfrm>
            <a:off x="548640" y="5943600"/>
            <a:ext cx="7315200" cy="365760"/>
          </a:xfrm>
          <a:prstGeom prst="rect">
            <a:avLst/>
          </a:prstGeom>
          <a:noFill/>
          <a:ln/>
        </p:spPr>
        <p:txBody>
          <a:bodyPr wrap="square" lIns="0" tIns="0" rIns="0" bIns="0" rtlCol="0" anchor="ctr"/>
          <a:lstStyle/>
          <a:p>
            <a:pPr indent="0" marL="0">
              <a:buNone/>
            </a:pPr>
            <a:r>
              <a:rPr lang="en-US" sz="1500" i="1" dirty="0">
                <a:solidFill>
                  <a:srgbClr val="5C6690"/>
                </a:solidFill>
                <a:latin typeface="Calibri" pitchFamily="34" charset="0"/>
                <a:ea typeface="Calibri" pitchFamily="34" charset="-122"/>
                <a:cs typeface="Calibri" pitchFamily="34" charset="-120"/>
              </a:rPr>
              <a:t>Thanks, tacow.</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Parnas Tables → State Machines → Apps</dc:title>
  <dc:subject>PptxGenJS Presentation</dc:subject>
  <dc:creator>Mark H Pavlidis</dc:creator>
  <cp:lastModifiedBy>Mark H Pavlidis</cp:lastModifiedBy>
  <cp:revision>1</cp:revision>
  <dcterms:created xsi:type="dcterms:W3CDTF">2026-07-28T03:19:26Z</dcterms:created>
  <dcterms:modified xsi:type="dcterms:W3CDTF">2026-07-28T03:19:26Z</dcterms:modified>
</cp:coreProperties>
</file>